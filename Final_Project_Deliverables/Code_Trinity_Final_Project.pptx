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x="18288000" cy="10287000"/>
  <p:notesSz cx="6858000" cy="9144000"/>
  <p:embeddedFontLst>
    <p:embeddedFont>
      <p:font typeface="Bobby Jones" charset="1" panose="00000000000000000000"/>
      <p:regular r:id="rId36"/>
    </p:embeddedFont>
    <p:embeddedFont>
      <p:font typeface="Nunito Sans Condensed" charset="1" panose="00000000000000000000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DD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35553" y="7409120"/>
            <a:ext cx="19246351" cy="3086100"/>
            <a:chOff x="0" y="0"/>
            <a:chExt cx="5068998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68998" cy="812800"/>
            </a:xfrm>
            <a:custGeom>
              <a:avLst/>
              <a:gdLst/>
              <a:ahLst/>
              <a:cxnLst/>
              <a:rect r="r" b="b" t="t" l="l"/>
              <a:pathLst>
                <a:path h="812800" w="5068998">
                  <a:moveTo>
                    <a:pt x="0" y="0"/>
                  </a:moveTo>
                  <a:lnTo>
                    <a:pt x="5068998" y="0"/>
                  </a:lnTo>
                  <a:lnTo>
                    <a:pt x="506899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8B786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68998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659201" y="1395809"/>
            <a:ext cx="14969598" cy="3091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19"/>
              </a:lnSpc>
            </a:pPr>
            <a:r>
              <a:rPr lang="en-US" sz="8799">
                <a:solidFill>
                  <a:srgbClr val="00BF63"/>
                </a:solidFill>
                <a:latin typeface="Bobby Jones"/>
                <a:ea typeface="Bobby Jones"/>
                <a:cs typeface="Bobby Jones"/>
                <a:sym typeface="Bobby Jones"/>
              </a:rPr>
              <a:t>Toxic</a:t>
            </a:r>
            <a:r>
              <a:rPr lang="en-US" sz="8799">
                <a:solidFill>
                  <a:srgbClr val="421F1F"/>
                </a:solidFill>
                <a:latin typeface="Bobby Jones"/>
                <a:ea typeface="Bobby Jones"/>
                <a:cs typeface="Bobby Jones"/>
                <a:sym typeface="Bobby Jones"/>
              </a:rPr>
              <a:t> Comment Detection on Twitter/X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555222" y="4079249"/>
            <a:ext cx="17177555" cy="6291280"/>
          </a:xfrm>
          <a:custGeom>
            <a:avLst/>
            <a:gdLst/>
            <a:ahLst/>
            <a:cxnLst/>
            <a:rect r="r" b="b" t="t" l="l"/>
            <a:pathLst>
              <a:path h="6291280" w="17177555">
                <a:moveTo>
                  <a:pt x="0" y="0"/>
                </a:moveTo>
                <a:lnTo>
                  <a:pt x="17177556" y="0"/>
                </a:lnTo>
                <a:lnTo>
                  <a:pt x="17177556" y="6291280"/>
                </a:lnTo>
                <a:lnTo>
                  <a:pt x="0" y="62912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319715" y="1088294"/>
            <a:ext cx="10454634" cy="804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73"/>
              </a:lnSpc>
            </a:pPr>
            <a:r>
              <a:rPr lang="en-US" sz="4695">
                <a:solidFill>
                  <a:srgbClr val="4F2422"/>
                </a:solidFill>
                <a:latin typeface="Bobby Jones"/>
                <a:ea typeface="Bobby Jones"/>
                <a:cs typeface="Bobby Jones"/>
                <a:sym typeface="Bobby Jones"/>
              </a:rPr>
              <a:t>code trinity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0" y="1116869"/>
            <a:ext cx="6767666" cy="522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254"/>
              </a:lnSpc>
            </a:pPr>
            <a:r>
              <a:rPr lang="en-US" sz="3039">
                <a:solidFill>
                  <a:srgbClr val="4F2422"/>
                </a:solidFill>
                <a:latin typeface="Bobby Jones"/>
                <a:ea typeface="Bobby Jones"/>
                <a:cs typeface="Bobby Jones"/>
                <a:sym typeface="Bobby Jones"/>
              </a:rPr>
              <a:t>ITC 508 - Deep Learning and NLP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19715" y="3231006"/>
            <a:ext cx="4511068" cy="1062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6"/>
              </a:lnSpc>
            </a:pPr>
            <a:r>
              <a:rPr lang="en-US" sz="2025">
                <a:solidFill>
                  <a:srgbClr val="4F2422"/>
                </a:solidFill>
                <a:latin typeface="Bobby Jones"/>
                <a:ea typeface="Bobby Jones"/>
                <a:cs typeface="Bobby Jones"/>
                <a:sym typeface="Bobby Jones"/>
              </a:rPr>
              <a:t>Fercy T. Enriquez </a:t>
            </a:r>
          </a:p>
          <a:p>
            <a:pPr algn="l">
              <a:lnSpc>
                <a:spcPts val="2836"/>
              </a:lnSpc>
            </a:pPr>
            <a:r>
              <a:rPr lang="en-US" sz="2025">
                <a:solidFill>
                  <a:srgbClr val="4F2422"/>
                </a:solidFill>
                <a:latin typeface="Bobby Jones"/>
                <a:ea typeface="Bobby Jones"/>
                <a:cs typeface="Bobby Jones"/>
                <a:sym typeface="Bobby Jones"/>
              </a:rPr>
              <a:t>Russel Troy Dulo </a:t>
            </a:r>
          </a:p>
          <a:p>
            <a:pPr algn="l">
              <a:lnSpc>
                <a:spcPts val="2836"/>
              </a:lnSpc>
            </a:pPr>
            <a:r>
              <a:rPr lang="en-US" sz="2025">
                <a:solidFill>
                  <a:srgbClr val="4F2422"/>
                </a:solidFill>
                <a:latin typeface="Bobby Jones"/>
                <a:ea typeface="Bobby Jones"/>
                <a:cs typeface="Bobby Jones"/>
                <a:sym typeface="Bobby Jones"/>
              </a:rPr>
              <a:t>Vince Gabrielle Morales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DA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05292" y="8413469"/>
            <a:ext cx="19098585" cy="2387881"/>
            <a:chOff x="0" y="0"/>
            <a:chExt cx="5030080" cy="62890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30080" cy="628907"/>
            </a:xfrm>
            <a:custGeom>
              <a:avLst/>
              <a:gdLst/>
              <a:ahLst/>
              <a:cxnLst/>
              <a:rect r="r" b="b" t="t" l="l"/>
              <a:pathLst>
                <a:path h="628907" w="5030080">
                  <a:moveTo>
                    <a:pt x="0" y="0"/>
                  </a:moveTo>
                  <a:lnTo>
                    <a:pt x="5030080" y="0"/>
                  </a:lnTo>
                  <a:lnTo>
                    <a:pt x="5030080" y="628907"/>
                  </a:lnTo>
                  <a:lnTo>
                    <a:pt x="0" y="628907"/>
                  </a:lnTo>
                  <a:close/>
                </a:path>
              </a:pathLst>
            </a:custGeom>
            <a:solidFill>
              <a:srgbClr val="41586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30080" cy="6670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0">
            <a:off x="4576350" y="6575677"/>
            <a:ext cx="9752061" cy="5717146"/>
          </a:xfrm>
          <a:custGeom>
            <a:avLst/>
            <a:gdLst/>
            <a:ahLst/>
            <a:cxnLst/>
            <a:rect r="r" b="b" t="t" l="l"/>
            <a:pathLst>
              <a:path h="5717146" w="9752061">
                <a:moveTo>
                  <a:pt x="9752060" y="0"/>
                </a:moveTo>
                <a:lnTo>
                  <a:pt x="0" y="0"/>
                </a:lnTo>
                <a:lnTo>
                  <a:pt x="0" y="5717145"/>
                </a:lnTo>
                <a:lnTo>
                  <a:pt x="9752060" y="5717145"/>
                </a:lnTo>
                <a:lnTo>
                  <a:pt x="975206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935011" y="1264947"/>
            <a:ext cx="8417978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523434"/>
                </a:solidFill>
                <a:latin typeface="Bobby Jones"/>
                <a:ea typeface="Bobby Jones"/>
                <a:cs typeface="Bobby Jones"/>
                <a:sym typeface="Bobby Jones"/>
              </a:rPr>
              <a:t>Project Overview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771392"/>
            <a:ext cx="16230600" cy="3804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 spc="43">
                <a:solidFill>
                  <a:srgbClr val="523434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Problem: Toxic and abusive content on Twitter platforms</a:t>
            </a:r>
          </a:p>
          <a:p>
            <a:pPr algn="just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 spc="43">
                <a:solidFill>
                  <a:srgbClr val="523434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Dataset: Twitter Comment Dataset (30,165 tweets)</a:t>
            </a:r>
          </a:p>
          <a:p>
            <a:pPr algn="just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 spc="43">
                <a:solidFill>
                  <a:srgbClr val="523434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Task: Tri-class classification (Negative/Toxic=-1, Neutral=0, Positive=1)</a:t>
            </a:r>
          </a:p>
          <a:p>
            <a:pPr algn="just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 spc="43">
                <a:solidFill>
                  <a:srgbClr val="523434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Approach: Baseline (TF-IDF + LogReg) vs Transformer (BERT-base-uncased)</a:t>
            </a:r>
          </a:p>
          <a:p>
            <a:pPr algn="just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 spc="43">
                <a:solidFill>
                  <a:srgbClr val="523434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Target: Achieve macro F1-score &gt; 0.85</a:t>
            </a:r>
          </a:p>
          <a:p>
            <a:pPr algn="just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 spc="43">
                <a:solidFill>
                  <a:srgbClr val="523434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SDG Alignment: SDG 16 - Peace, Justice and Strong Institutions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DA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05292" y="8413469"/>
            <a:ext cx="19098585" cy="2387881"/>
            <a:chOff x="0" y="0"/>
            <a:chExt cx="5030080" cy="62890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30080" cy="628907"/>
            </a:xfrm>
            <a:custGeom>
              <a:avLst/>
              <a:gdLst/>
              <a:ahLst/>
              <a:cxnLst/>
              <a:rect r="r" b="b" t="t" l="l"/>
              <a:pathLst>
                <a:path h="628907" w="5030080">
                  <a:moveTo>
                    <a:pt x="0" y="0"/>
                  </a:moveTo>
                  <a:lnTo>
                    <a:pt x="5030080" y="0"/>
                  </a:lnTo>
                  <a:lnTo>
                    <a:pt x="5030080" y="628907"/>
                  </a:lnTo>
                  <a:lnTo>
                    <a:pt x="0" y="628907"/>
                  </a:lnTo>
                  <a:close/>
                </a:path>
              </a:pathLst>
            </a:custGeom>
            <a:solidFill>
              <a:srgbClr val="41586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30080" cy="6670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0">
            <a:off x="4576350" y="6575677"/>
            <a:ext cx="9752061" cy="5717146"/>
          </a:xfrm>
          <a:custGeom>
            <a:avLst/>
            <a:gdLst/>
            <a:ahLst/>
            <a:cxnLst/>
            <a:rect r="r" b="b" t="t" l="l"/>
            <a:pathLst>
              <a:path h="5717146" w="9752061">
                <a:moveTo>
                  <a:pt x="9752060" y="0"/>
                </a:moveTo>
                <a:lnTo>
                  <a:pt x="0" y="0"/>
                </a:lnTo>
                <a:lnTo>
                  <a:pt x="0" y="5717145"/>
                </a:lnTo>
                <a:lnTo>
                  <a:pt x="9752060" y="5717145"/>
                </a:lnTo>
                <a:lnTo>
                  <a:pt x="975206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935011" y="1264947"/>
            <a:ext cx="8417978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523434"/>
                </a:solidFill>
                <a:latin typeface="Bobby Jones"/>
                <a:ea typeface="Bobby Jones"/>
                <a:cs typeface="Bobby Jones"/>
                <a:sym typeface="Bobby Jones"/>
              </a:rPr>
              <a:t>Dataset: Twitter Comment Dataset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578209"/>
            <a:ext cx="16230600" cy="3804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 spc="43">
                <a:solidFill>
                  <a:srgbClr val="523434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Total Samples: 30,165 tweets</a:t>
            </a:r>
          </a:p>
          <a:p>
            <a:pPr algn="just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 spc="43">
                <a:solidFill>
                  <a:srgbClr val="523434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Training Set: 70% (~21,115)</a:t>
            </a:r>
          </a:p>
          <a:p>
            <a:pPr algn="just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 spc="43">
                <a:solidFill>
                  <a:srgbClr val="523434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V</a:t>
            </a:r>
            <a:r>
              <a:rPr lang="en-US" sz="3600" spc="43">
                <a:solidFill>
                  <a:srgbClr val="523434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alidation Set: 15% (~4,525)</a:t>
            </a:r>
          </a:p>
          <a:p>
            <a:pPr algn="just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 spc="43">
                <a:solidFill>
                  <a:srgbClr val="523434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Test Set: 15% (~4,525)</a:t>
            </a:r>
          </a:p>
          <a:p>
            <a:pPr algn="just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 spc="43">
                <a:solidFill>
                  <a:srgbClr val="523434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L</a:t>
            </a:r>
            <a:r>
              <a:rPr lang="en-US" sz="3600" spc="43">
                <a:solidFill>
                  <a:srgbClr val="523434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abels: 3 classes (-1, 0, 1)</a:t>
            </a:r>
          </a:p>
          <a:p>
            <a:pPr algn="just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 spc="43">
                <a:solidFill>
                  <a:srgbClr val="523434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Source: Twitter social media posts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EC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05292" y="8413469"/>
            <a:ext cx="19098585" cy="2387881"/>
            <a:chOff x="0" y="0"/>
            <a:chExt cx="5030080" cy="62890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30080" cy="628907"/>
            </a:xfrm>
            <a:custGeom>
              <a:avLst/>
              <a:gdLst/>
              <a:ahLst/>
              <a:cxnLst/>
              <a:rect r="r" b="b" t="t" l="l"/>
              <a:pathLst>
                <a:path h="628907" w="5030080">
                  <a:moveTo>
                    <a:pt x="0" y="0"/>
                  </a:moveTo>
                  <a:lnTo>
                    <a:pt x="5030080" y="0"/>
                  </a:lnTo>
                  <a:lnTo>
                    <a:pt x="5030080" y="628907"/>
                  </a:lnTo>
                  <a:lnTo>
                    <a:pt x="0" y="628907"/>
                  </a:lnTo>
                  <a:close/>
                </a:path>
              </a:pathLst>
            </a:custGeom>
            <a:solidFill>
              <a:srgbClr val="41586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30080" cy="6670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209999" y="3725653"/>
            <a:ext cx="10032599" cy="7411583"/>
          </a:xfrm>
          <a:custGeom>
            <a:avLst/>
            <a:gdLst/>
            <a:ahLst/>
            <a:cxnLst/>
            <a:rect r="r" b="b" t="t" l="l"/>
            <a:pathLst>
              <a:path h="7411583" w="10032599">
                <a:moveTo>
                  <a:pt x="0" y="0"/>
                </a:moveTo>
                <a:lnTo>
                  <a:pt x="10032599" y="0"/>
                </a:lnTo>
                <a:lnTo>
                  <a:pt x="10032599" y="7411582"/>
                </a:lnTo>
                <a:lnTo>
                  <a:pt x="0" y="74115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59201" y="1694035"/>
            <a:ext cx="14969598" cy="3650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60"/>
              </a:lnSpc>
            </a:pPr>
            <a:r>
              <a:rPr lang="en-US" sz="10400">
                <a:solidFill>
                  <a:srgbClr val="523434"/>
                </a:solidFill>
                <a:latin typeface="Bobby Jones"/>
                <a:ea typeface="Bobby Jones"/>
                <a:cs typeface="Bobby Jones"/>
                <a:sym typeface="Bobby Jones"/>
              </a:rPr>
              <a:t>Setup and Data Preprocessing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DD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05292" y="8413469"/>
            <a:ext cx="19098585" cy="2387881"/>
            <a:chOff x="0" y="0"/>
            <a:chExt cx="5030080" cy="62890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30080" cy="628907"/>
            </a:xfrm>
            <a:custGeom>
              <a:avLst/>
              <a:gdLst/>
              <a:ahLst/>
              <a:cxnLst/>
              <a:rect r="r" b="b" t="t" l="l"/>
              <a:pathLst>
                <a:path h="628907" w="5030080">
                  <a:moveTo>
                    <a:pt x="0" y="0"/>
                  </a:moveTo>
                  <a:lnTo>
                    <a:pt x="5030080" y="0"/>
                  </a:lnTo>
                  <a:lnTo>
                    <a:pt x="5030080" y="628907"/>
                  </a:lnTo>
                  <a:lnTo>
                    <a:pt x="0" y="628907"/>
                  </a:lnTo>
                  <a:close/>
                </a:path>
              </a:pathLst>
            </a:custGeom>
            <a:solidFill>
              <a:srgbClr val="4F242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30080" cy="6670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3245599"/>
            <a:ext cx="11297844" cy="281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84082" indent="-292041" lvl="1">
              <a:lnSpc>
                <a:spcPts val="3787"/>
              </a:lnSpc>
              <a:buFont typeface="Arial"/>
              <a:buChar char="•"/>
            </a:pPr>
            <a:r>
              <a:rPr lang="en-US" sz="2705" spc="32">
                <a:solidFill>
                  <a:srgbClr val="4F242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Libraries: transformers, datasets, scikit-learn, optuna</a:t>
            </a:r>
          </a:p>
          <a:p>
            <a:pPr algn="just" marL="584082" indent="-292041" lvl="1">
              <a:lnSpc>
                <a:spcPts val="3787"/>
              </a:lnSpc>
              <a:buFont typeface="Arial"/>
              <a:buChar char="•"/>
            </a:pPr>
            <a:r>
              <a:rPr lang="en-US" sz="2705" spc="32">
                <a:solidFill>
                  <a:srgbClr val="4F242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Device detection: CUDA GPU when available</a:t>
            </a:r>
          </a:p>
          <a:p>
            <a:pPr algn="just" marL="584082" indent="-292041" lvl="1">
              <a:lnSpc>
                <a:spcPts val="3787"/>
              </a:lnSpc>
              <a:buFont typeface="Arial"/>
              <a:buChar char="•"/>
            </a:pPr>
            <a:r>
              <a:rPr lang="en-US" sz="2705" spc="32">
                <a:solidFill>
                  <a:srgbClr val="4F242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Dataset loading: TwitterToxicity.csv with review and label columns</a:t>
            </a:r>
          </a:p>
          <a:p>
            <a:pPr algn="just" marL="584082" indent="-292041" lvl="1">
              <a:lnSpc>
                <a:spcPts val="3787"/>
              </a:lnSpc>
              <a:buFont typeface="Arial"/>
              <a:buChar char="•"/>
            </a:pPr>
            <a:r>
              <a:rPr lang="en-US" sz="2705" spc="32">
                <a:solidFill>
                  <a:srgbClr val="4F242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Data validation: Ensures required columns exist</a:t>
            </a:r>
          </a:p>
          <a:p>
            <a:pPr algn="just" marL="584082" indent="-292041" lvl="1">
              <a:lnSpc>
                <a:spcPts val="3787"/>
              </a:lnSpc>
              <a:buFont typeface="Arial"/>
              <a:buChar char="•"/>
            </a:pPr>
            <a:r>
              <a:rPr lang="en-US" sz="2705" spc="32">
                <a:solidFill>
                  <a:srgbClr val="4F242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ID assignment: Unique identifier for each sample</a:t>
            </a:r>
          </a:p>
          <a:p>
            <a:pPr algn="just" marL="584082" indent="-292041" lvl="1">
              <a:lnSpc>
                <a:spcPts val="3787"/>
              </a:lnSpc>
              <a:buFont typeface="Arial"/>
              <a:buChar char="•"/>
            </a:pPr>
            <a:r>
              <a:rPr lang="en-US" sz="2705" spc="32">
                <a:solidFill>
                  <a:srgbClr val="4F242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Reproducibility: Random seed = 42 for all operations</a:t>
            </a:r>
          </a:p>
        </p:txBody>
      </p:sp>
      <p:sp>
        <p:nvSpPr>
          <p:cNvPr name="Freeform 6" id="6"/>
          <p:cNvSpPr/>
          <p:nvPr/>
        </p:nvSpPr>
        <p:spPr>
          <a:xfrm flipH="true" flipV="false" rot="0">
            <a:off x="8646563" y="3019548"/>
            <a:ext cx="9641437" cy="7472114"/>
          </a:xfrm>
          <a:custGeom>
            <a:avLst/>
            <a:gdLst/>
            <a:ahLst/>
            <a:cxnLst/>
            <a:rect r="r" b="b" t="t" l="l"/>
            <a:pathLst>
              <a:path h="7472114" w="9641437">
                <a:moveTo>
                  <a:pt x="9641437" y="0"/>
                </a:moveTo>
                <a:lnTo>
                  <a:pt x="0" y="0"/>
                </a:lnTo>
                <a:lnTo>
                  <a:pt x="0" y="7472114"/>
                </a:lnTo>
                <a:lnTo>
                  <a:pt x="9641437" y="7472114"/>
                </a:lnTo>
                <a:lnTo>
                  <a:pt x="964143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125460" y="941070"/>
            <a:ext cx="12037079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4F2422"/>
                </a:solidFill>
                <a:latin typeface="Bobby Jones"/>
                <a:ea typeface="Bobby Jones"/>
                <a:cs typeface="Bobby Jones"/>
                <a:sym typeface="Bobby Jones"/>
              </a:rPr>
              <a:t>Data Loading and Environment Setup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DD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05292" y="8413469"/>
            <a:ext cx="19098585" cy="2387881"/>
            <a:chOff x="0" y="0"/>
            <a:chExt cx="5030080" cy="62890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30080" cy="628907"/>
            </a:xfrm>
            <a:custGeom>
              <a:avLst/>
              <a:gdLst/>
              <a:ahLst/>
              <a:cxnLst/>
              <a:rect r="r" b="b" t="t" l="l"/>
              <a:pathLst>
                <a:path h="628907" w="5030080">
                  <a:moveTo>
                    <a:pt x="0" y="0"/>
                  </a:moveTo>
                  <a:lnTo>
                    <a:pt x="5030080" y="0"/>
                  </a:lnTo>
                  <a:lnTo>
                    <a:pt x="5030080" y="628907"/>
                  </a:lnTo>
                  <a:lnTo>
                    <a:pt x="0" y="628907"/>
                  </a:lnTo>
                  <a:close/>
                </a:path>
              </a:pathLst>
            </a:custGeom>
            <a:solidFill>
              <a:srgbClr val="4F242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30080" cy="6670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3245599"/>
            <a:ext cx="11297844" cy="3285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84082" indent="-292041" lvl="1">
              <a:lnSpc>
                <a:spcPts val="3787"/>
              </a:lnSpc>
              <a:buFont typeface="Arial"/>
              <a:buChar char="•"/>
            </a:pPr>
            <a:r>
              <a:rPr lang="en-US" sz="2705" spc="32">
                <a:solidFill>
                  <a:srgbClr val="4F242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HTML tag removal: Strips HTML entities and tags</a:t>
            </a:r>
          </a:p>
          <a:p>
            <a:pPr algn="just" marL="584082" indent="-292041" lvl="1">
              <a:lnSpc>
                <a:spcPts val="3787"/>
              </a:lnSpc>
              <a:buFont typeface="Arial"/>
              <a:buChar char="•"/>
            </a:pPr>
            <a:r>
              <a:rPr lang="en-US" sz="2705" spc="32">
                <a:solidFill>
                  <a:srgbClr val="4F242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URL/Mention/Hashtag removal: Removes social media artifacts</a:t>
            </a:r>
          </a:p>
          <a:p>
            <a:pPr algn="just" marL="584082" indent="-292041" lvl="1">
              <a:lnSpc>
                <a:spcPts val="3787"/>
              </a:lnSpc>
              <a:buFont typeface="Arial"/>
              <a:buChar char="•"/>
            </a:pPr>
            <a:r>
              <a:rPr lang="en-US" sz="2705" spc="32">
                <a:solidFill>
                  <a:srgbClr val="4F242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Control character removal: Removes non-printable characters</a:t>
            </a:r>
          </a:p>
          <a:p>
            <a:pPr algn="just" marL="584082" indent="-292041" lvl="1">
              <a:lnSpc>
                <a:spcPts val="3787"/>
              </a:lnSpc>
              <a:buFont typeface="Arial"/>
              <a:buChar char="•"/>
            </a:pPr>
            <a:r>
              <a:rPr lang="en-US" sz="2705" spc="32">
                <a:solidFill>
                  <a:srgbClr val="4F242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Tex</a:t>
            </a:r>
            <a:r>
              <a:rPr lang="en-US" sz="2705" spc="32">
                <a:solidFill>
                  <a:srgbClr val="4F242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t normalization: Lemmatization and stemming</a:t>
            </a:r>
          </a:p>
          <a:p>
            <a:pPr algn="just" marL="584082" indent="-292041" lvl="1">
              <a:lnSpc>
                <a:spcPts val="3787"/>
              </a:lnSpc>
              <a:buFont typeface="Arial"/>
              <a:buChar char="•"/>
            </a:pPr>
            <a:r>
              <a:rPr lang="en-US" sz="2705" spc="32">
                <a:solidFill>
                  <a:srgbClr val="4F242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Duplicate removal: Removes exact duplicate tweets</a:t>
            </a:r>
          </a:p>
          <a:p>
            <a:pPr algn="just" marL="584082" indent="-292041" lvl="1">
              <a:lnSpc>
                <a:spcPts val="3787"/>
              </a:lnSpc>
              <a:buFont typeface="Arial"/>
              <a:buChar char="•"/>
            </a:pPr>
            <a:r>
              <a:rPr lang="en-US" sz="2705" spc="32">
                <a:solidFill>
                  <a:srgbClr val="4F242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SMOTE balancing: Addresses class imbalance if needed</a:t>
            </a:r>
          </a:p>
          <a:p>
            <a:pPr algn="just" marL="584082" indent="-292041" lvl="1">
              <a:lnSpc>
                <a:spcPts val="3787"/>
              </a:lnSpc>
              <a:buFont typeface="Arial"/>
              <a:buChar char="•"/>
            </a:pPr>
            <a:r>
              <a:rPr lang="en-US" sz="2705" spc="32">
                <a:solidFill>
                  <a:srgbClr val="4F242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Preserves: Case and Twitter-specific characteristics</a:t>
            </a:r>
          </a:p>
        </p:txBody>
      </p:sp>
      <p:sp>
        <p:nvSpPr>
          <p:cNvPr name="Freeform 6" id="6"/>
          <p:cNvSpPr/>
          <p:nvPr/>
        </p:nvSpPr>
        <p:spPr>
          <a:xfrm flipH="true" flipV="false" rot="0">
            <a:off x="8646563" y="3019548"/>
            <a:ext cx="9641437" cy="7472114"/>
          </a:xfrm>
          <a:custGeom>
            <a:avLst/>
            <a:gdLst/>
            <a:ahLst/>
            <a:cxnLst/>
            <a:rect r="r" b="b" t="t" l="l"/>
            <a:pathLst>
              <a:path h="7472114" w="9641437">
                <a:moveTo>
                  <a:pt x="9641437" y="0"/>
                </a:moveTo>
                <a:lnTo>
                  <a:pt x="0" y="0"/>
                </a:lnTo>
                <a:lnTo>
                  <a:pt x="0" y="7472114"/>
                </a:lnTo>
                <a:lnTo>
                  <a:pt x="9641437" y="7472114"/>
                </a:lnTo>
                <a:lnTo>
                  <a:pt x="964143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125460" y="941070"/>
            <a:ext cx="12037079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4F2422"/>
                </a:solidFill>
                <a:latin typeface="Bobby Jones"/>
                <a:ea typeface="Bobby Jones"/>
                <a:cs typeface="Bobby Jones"/>
                <a:sym typeface="Bobby Jones"/>
              </a:rPr>
              <a:t>Data Preprocessing Pipeline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DD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05292" y="8413469"/>
            <a:ext cx="19098585" cy="2387881"/>
            <a:chOff x="0" y="0"/>
            <a:chExt cx="5030080" cy="62890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30080" cy="628907"/>
            </a:xfrm>
            <a:custGeom>
              <a:avLst/>
              <a:gdLst/>
              <a:ahLst/>
              <a:cxnLst/>
              <a:rect r="r" b="b" t="t" l="l"/>
              <a:pathLst>
                <a:path h="628907" w="5030080">
                  <a:moveTo>
                    <a:pt x="0" y="0"/>
                  </a:moveTo>
                  <a:lnTo>
                    <a:pt x="5030080" y="0"/>
                  </a:lnTo>
                  <a:lnTo>
                    <a:pt x="5030080" y="628907"/>
                  </a:lnTo>
                  <a:lnTo>
                    <a:pt x="0" y="628907"/>
                  </a:lnTo>
                  <a:close/>
                </a:path>
              </a:pathLst>
            </a:custGeom>
            <a:solidFill>
              <a:srgbClr val="4F242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30080" cy="6670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3245599"/>
            <a:ext cx="11297844" cy="281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84082" indent="-292041" lvl="1">
              <a:lnSpc>
                <a:spcPts val="3787"/>
              </a:lnSpc>
              <a:buFont typeface="Arial"/>
              <a:buChar char="•"/>
            </a:pPr>
            <a:r>
              <a:rPr lang="en-US" sz="2705" spc="32">
                <a:solidFill>
                  <a:srgbClr val="4F242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Initial split: 70% train, 30% temp (stratified)</a:t>
            </a:r>
          </a:p>
          <a:p>
            <a:pPr algn="just" marL="584082" indent="-292041" lvl="1">
              <a:lnSpc>
                <a:spcPts val="3787"/>
              </a:lnSpc>
              <a:buFont typeface="Arial"/>
              <a:buChar char="•"/>
            </a:pPr>
            <a:r>
              <a:rPr lang="en-US" sz="2705" spc="32">
                <a:solidFill>
                  <a:srgbClr val="4F242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S</a:t>
            </a:r>
            <a:r>
              <a:rPr lang="en-US" sz="2705" spc="32">
                <a:solidFill>
                  <a:srgbClr val="4F242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econdary split: 30% temp → 15% val, 15% test (stratified)</a:t>
            </a:r>
          </a:p>
          <a:p>
            <a:pPr algn="just" marL="584082" indent="-292041" lvl="1">
              <a:lnSpc>
                <a:spcPts val="3787"/>
              </a:lnSpc>
              <a:buFont typeface="Arial"/>
              <a:buChar char="•"/>
            </a:pPr>
            <a:r>
              <a:rPr lang="en-US" sz="2705" spc="32">
                <a:solidFill>
                  <a:srgbClr val="4F242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Stratification: Maintains label balance across all splits</a:t>
            </a:r>
          </a:p>
          <a:p>
            <a:pPr algn="just" marL="584082" indent="-292041" lvl="1">
              <a:lnSpc>
                <a:spcPts val="3787"/>
              </a:lnSpc>
              <a:buFont typeface="Arial"/>
              <a:buChar char="•"/>
            </a:pPr>
            <a:r>
              <a:rPr lang="en-US" sz="2705" spc="32">
                <a:solidFill>
                  <a:srgbClr val="4F242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Split persistence: Saves train_ids.csv, val_ids.csv, test_ids.csv</a:t>
            </a:r>
          </a:p>
          <a:p>
            <a:pPr algn="just" marL="584082" indent="-292041" lvl="1">
              <a:lnSpc>
                <a:spcPts val="3787"/>
              </a:lnSpc>
              <a:buFont typeface="Arial"/>
              <a:buChar char="•"/>
            </a:pPr>
            <a:r>
              <a:rPr lang="en-US" sz="2705" spc="32">
                <a:solidFill>
                  <a:srgbClr val="4F242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Reproducibility: All experiments use identical splits</a:t>
            </a:r>
          </a:p>
          <a:p>
            <a:pPr algn="just" marL="584082" indent="-292041" lvl="1">
              <a:lnSpc>
                <a:spcPts val="3787"/>
              </a:lnSpc>
              <a:buFont typeface="Arial"/>
              <a:buChar char="•"/>
            </a:pPr>
            <a:r>
              <a:rPr lang="en-US" sz="2705" spc="32">
                <a:solidFill>
                  <a:srgbClr val="4F242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Verification: Label distributions printed for inspection</a:t>
            </a:r>
          </a:p>
        </p:txBody>
      </p:sp>
      <p:sp>
        <p:nvSpPr>
          <p:cNvPr name="Freeform 6" id="6"/>
          <p:cNvSpPr/>
          <p:nvPr/>
        </p:nvSpPr>
        <p:spPr>
          <a:xfrm flipH="true" flipV="false" rot="0">
            <a:off x="8646563" y="3019548"/>
            <a:ext cx="9641437" cy="7472114"/>
          </a:xfrm>
          <a:custGeom>
            <a:avLst/>
            <a:gdLst/>
            <a:ahLst/>
            <a:cxnLst/>
            <a:rect r="r" b="b" t="t" l="l"/>
            <a:pathLst>
              <a:path h="7472114" w="9641437">
                <a:moveTo>
                  <a:pt x="9641437" y="0"/>
                </a:moveTo>
                <a:lnTo>
                  <a:pt x="0" y="0"/>
                </a:lnTo>
                <a:lnTo>
                  <a:pt x="0" y="7472114"/>
                </a:lnTo>
                <a:lnTo>
                  <a:pt x="9641437" y="7472114"/>
                </a:lnTo>
                <a:lnTo>
                  <a:pt x="964143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125460" y="941070"/>
            <a:ext cx="12037079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4F2422"/>
                </a:solidFill>
                <a:latin typeface="Bobby Jones"/>
                <a:ea typeface="Bobby Jones"/>
                <a:cs typeface="Bobby Jones"/>
                <a:sym typeface="Bobby Jones"/>
              </a:rPr>
              <a:t>Stratified 70/15/15 Split Strategy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EC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05292" y="8413469"/>
            <a:ext cx="19098585" cy="2387881"/>
            <a:chOff x="0" y="0"/>
            <a:chExt cx="5030080" cy="62890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30080" cy="628907"/>
            </a:xfrm>
            <a:custGeom>
              <a:avLst/>
              <a:gdLst/>
              <a:ahLst/>
              <a:cxnLst/>
              <a:rect r="r" b="b" t="t" l="l"/>
              <a:pathLst>
                <a:path h="628907" w="5030080">
                  <a:moveTo>
                    <a:pt x="0" y="0"/>
                  </a:moveTo>
                  <a:lnTo>
                    <a:pt x="5030080" y="0"/>
                  </a:lnTo>
                  <a:lnTo>
                    <a:pt x="5030080" y="628907"/>
                  </a:lnTo>
                  <a:lnTo>
                    <a:pt x="0" y="628907"/>
                  </a:lnTo>
                  <a:close/>
                </a:path>
              </a:pathLst>
            </a:custGeom>
            <a:solidFill>
              <a:srgbClr val="41586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30080" cy="6670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209999" y="3725653"/>
            <a:ext cx="10032599" cy="7411583"/>
          </a:xfrm>
          <a:custGeom>
            <a:avLst/>
            <a:gdLst/>
            <a:ahLst/>
            <a:cxnLst/>
            <a:rect r="r" b="b" t="t" l="l"/>
            <a:pathLst>
              <a:path h="7411583" w="10032599">
                <a:moveTo>
                  <a:pt x="0" y="0"/>
                </a:moveTo>
                <a:lnTo>
                  <a:pt x="10032599" y="0"/>
                </a:lnTo>
                <a:lnTo>
                  <a:pt x="10032599" y="7411582"/>
                </a:lnTo>
                <a:lnTo>
                  <a:pt x="0" y="74115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59201" y="1694035"/>
            <a:ext cx="14969598" cy="3650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60"/>
              </a:lnSpc>
            </a:pPr>
            <a:r>
              <a:rPr lang="en-US" sz="10400">
                <a:solidFill>
                  <a:srgbClr val="523434"/>
                </a:solidFill>
                <a:latin typeface="Bobby Jones"/>
                <a:ea typeface="Bobby Jones"/>
                <a:cs typeface="Bobby Jones"/>
                <a:sym typeface="Bobby Jones"/>
              </a:rPr>
              <a:t>Baseline Model Development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DA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05292" y="8413469"/>
            <a:ext cx="19098585" cy="2387881"/>
            <a:chOff x="0" y="0"/>
            <a:chExt cx="5030080" cy="62890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30080" cy="628907"/>
            </a:xfrm>
            <a:custGeom>
              <a:avLst/>
              <a:gdLst/>
              <a:ahLst/>
              <a:cxnLst/>
              <a:rect r="r" b="b" t="t" l="l"/>
              <a:pathLst>
                <a:path h="628907" w="5030080">
                  <a:moveTo>
                    <a:pt x="0" y="0"/>
                  </a:moveTo>
                  <a:lnTo>
                    <a:pt x="5030080" y="0"/>
                  </a:lnTo>
                  <a:lnTo>
                    <a:pt x="5030080" y="628907"/>
                  </a:lnTo>
                  <a:lnTo>
                    <a:pt x="0" y="628907"/>
                  </a:lnTo>
                  <a:close/>
                </a:path>
              </a:pathLst>
            </a:custGeom>
            <a:solidFill>
              <a:srgbClr val="41586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30080" cy="6670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55714" y="3576115"/>
            <a:ext cx="6409902" cy="6883116"/>
          </a:xfrm>
          <a:custGeom>
            <a:avLst/>
            <a:gdLst/>
            <a:ahLst/>
            <a:cxnLst/>
            <a:rect r="r" b="b" t="t" l="l"/>
            <a:pathLst>
              <a:path h="6883116" w="6409902">
                <a:moveTo>
                  <a:pt x="0" y="0"/>
                </a:moveTo>
                <a:lnTo>
                  <a:pt x="6409902" y="0"/>
                </a:lnTo>
                <a:lnTo>
                  <a:pt x="6409902" y="6883117"/>
                </a:lnTo>
                <a:lnTo>
                  <a:pt x="0" y="68831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125460" y="941070"/>
            <a:ext cx="12037079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523434"/>
                </a:solidFill>
                <a:latin typeface="Bobby Jones"/>
                <a:ea typeface="Bobby Jones"/>
                <a:cs typeface="Bobby Jones"/>
                <a:sym typeface="Bobby Jones"/>
              </a:rPr>
              <a:t>Baseline Model: TF-IDF + Logistic Regression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800029" y="3773347"/>
            <a:ext cx="9459271" cy="2491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pc="28">
                <a:solidFill>
                  <a:srgbClr val="4F242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Vectorization: TF-IDF with word n-grams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pc="28">
                <a:solidFill>
                  <a:srgbClr val="4F242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Classifier: Logistic Regression with grid search CV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pc="28">
                <a:solidFill>
                  <a:srgbClr val="4F242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Hyperparameter tuning: Grid search for best configuration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pc="28">
                <a:solidFill>
                  <a:srgbClr val="4F242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Best configuration: C=1.0, class_weight adjustments, L1/L2 penalty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pc="28">
                <a:solidFill>
                  <a:srgbClr val="4F242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Performance: 62.24% accuracy, 62.34% macro-F1 on test set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pc="28">
                <a:solidFill>
                  <a:srgbClr val="4F242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Purpose: Establishes performance benchmark for comparison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DA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05292" y="8413469"/>
            <a:ext cx="19098585" cy="2387881"/>
            <a:chOff x="0" y="0"/>
            <a:chExt cx="5030080" cy="62890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30080" cy="628907"/>
            </a:xfrm>
            <a:custGeom>
              <a:avLst/>
              <a:gdLst/>
              <a:ahLst/>
              <a:cxnLst/>
              <a:rect r="r" b="b" t="t" l="l"/>
              <a:pathLst>
                <a:path h="628907" w="5030080">
                  <a:moveTo>
                    <a:pt x="0" y="0"/>
                  </a:moveTo>
                  <a:lnTo>
                    <a:pt x="5030080" y="0"/>
                  </a:lnTo>
                  <a:lnTo>
                    <a:pt x="5030080" y="628907"/>
                  </a:lnTo>
                  <a:lnTo>
                    <a:pt x="0" y="628907"/>
                  </a:lnTo>
                  <a:close/>
                </a:path>
              </a:pathLst>
            </a:custGeom>
            <a:solidFill>
              <a:srgbClr val="41586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30080" cy="6670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55714" y="3576115"/>
            <a:ext cx="6409902" cy="6883116"/>
          </a:xfrm>
          <a:custGeom>
            <a:avLst/>
            <a:gdLst/>
            <a:ahLst/>
            <a:cxnLst/>
            <a:rect r="r" b="b" t="t" l="l"/>
            <a:pathLst>
              <a:path h="6883116" w="6409902">
                <a:moveTo>
                  <a:pt x="0" y="0"/>
                </a:moveTo>
                <a:lnTo>
                  <a:pt x="6409902" y="0"/>
                </a:lnTo>
                <a:lnTo>
                  <a:pt x="6409902" y="6883117"/>
                </a:lnTo>
                <a:lnTo>
                  <a:pt x="0" y="68831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125460" y="941070"/>
            <a:ext cx="12037079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523434"/>
                </a:solidFill>
                <a:latin typeface="Bobby Jones"/>
                <a:ea typeface="Bobby Jones"/>
                <a:cs typeface="Bobby Jones"/>
                <a:sym typeface="Bobby Jones"/>
              </a:rPr>
              <a:t>Baseline Model - Test Set Performance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800029" y="3763822"/>
            <a:ext cx="9459271" cy="2709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62170" indent="-281085" lvl="1">
              <a:lnSpc>
                <a:spcPts val="3645"/>
              </a:lnSpc>
              <a:buFont typeface="Arial"/>
              <a:buChar char="•"/>
            </a:pPr>
            <a:r>
              <a:rPr lang="en-US" sz="2603" spc="31">
                <a:solidFill>
                  <a:srgbClr val="4F242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Accuracy: 62.24%</a:t>
            </a:r>
          </a:p>
          <a:p>
            <a:pPr algn="just" marL="562170" indent="-281085" lvl="1">
              <a:lnSpc>
                <a:spcPts val="3645"/>
              </a:lnSpc>
              <a:buFont typeface="Arial"/>
              <a:buChar char="•"/>
            </a:pPr>
            <a:r>
              <a:rPr lang="en-US" sz="2603" spc="31">
                <a:solidFill>
                  <a:srgbClr val="4F242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Macro F1: 62.34%</a:t>
            </a:r>
          </a:p>
          <a:p>
            <a:pPr algn="just" marL="562170" indent="-281085" lvl="1">
              <a:lnSpc>
                <a:spcPts val="3645"/>
              </a:lnSpc>
              <a:buFont typeface="Arial"/>
              <a:buChar char="•"/>
            </a:pPr>
            <a:r>
              <a:rPr lang="en-US" sz="2603" spc="31">
                <a:solidFill>
                  <a:srgbClr val="4F242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Precision: 62.57%</a:t>
            </a:r>
          </a:p>
          <a:p>
            <a:pPr algn="just" marL="562170" indent="-281085" lvl="1">
              <a:lnSpc>
                <a:spcPts val="3645"/>
              </a:lnSpc>
              <a:buFont typeface="Arial"/>
              <a:buChar char="•"/>
            </a:pPr>
            <a:r>
              <a:rPr lang="en-US" sz="2603" spc="31">
                <a:solidFill>
                  <a:srgbClr val="4F242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Recall: 62.39%</a:t>
            </a:r>
          </a:p>
          <a:p>
            <a:pPr algn="just" marL="562170" indent="-281085" lvl="1">
              <a:lnSpc>
                <a:spcPts val="3645"/>
              </a:lnSpc>
              <a:buFont typeface="Arial"/>
              <a:buChar char="•"/>
            </a:pPr>
            <a:r>
              <a:rPr lang="en-US" sz="2603" spc="31">
                <a:solidFill>
                  <a:srgbClr val="4F242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Model Type: TF-IDF + Logistic Regression</a:t>
            </a:r>
          </a:p>
          <a:p>
            <a:pPr algn="just" marL="562170" indent="-281085" lvl="1">
              <a:lnSpc>
                <a:spcPts val="3645"/>
              </a:lnSpc>
              <a:buFont typeface="Arial"/>
              <a:buChar char="•"/>
            </a:pPr>
            <a:r>
              <a:rPr lang="en-US" sz="2603" spc="31">
                <a:solidFill>
                  <a:srgbClr val="4F242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Training Time: ~0.5 minutes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DA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05292" y="8413469"/>
            <a:ext cx="19098585" cy="2387881"/>
            <a:chOff x="0" y="0"/>
            <a:chExt cx="5030080" cy="62890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30080" cy="628907"/>
            </a:xfrm>
            <a:custGeom>
              <a:avLst/>
              <a:gdLst/>
              <a:ahLst/>
              <a:cxnLst/>
              <a:rect r="r" b="b" t="t" l="l"/>
              <a:pathLst>
                <a:path h="628907" w="5030080">
                  <a:moveTo>
                    <a:pt x="0" y="0"/>
                  </a:moveTo>
                  <a:lnTo>
                    <a:pt x="5030080" y="0"/>
                  </a:lnTo>
                  <a:lnTo>
                    <a:pt x="5030080" y="628907"/>
                  </a:lnTo>
                  <a:lnTo>
                    <a:pt x="0" y="628907"/>
                  </a:lnTo>
                  <a:close/>
                </a:path>
              </a:pathLst>
            </a:custGeom>
            <a:solidFill>
              <a:srgbClr val="41586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30080" cy="6670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55714" y="3576115"/>
            <a:ext cx="6409902" cy="6883116"/>
          </a:xfrm>
          <a:custGeom>
            <a:avLst/>
            <a:gdLst/>
            <a:ahLst/>
            <a:cxnLst/>
            <a:rect r="r" b="b" t="t" l="l"/>
            <a:pathLst>
              <a:path h="6883116" w="6409902">
                <a:moveTo>
                  <a:pt x="0" y="0"/>
                </a:moveTo>
                <a:lnTo>
                  <a:pt x="6409902" y="0"/>
                </a:lnTo>
                <a:lnTo>
                  <a:pt x="6409902" y="6883117"/>
                </a:lnTo>
                <a:lnTo>
                  <a:pt x="0" y="68831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125460" y="941070"/>
            <a:ext cx="12037079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523434"/>
                </a:solidFill>
                <a:latin typeface="Bobby Jones"/>
                <a:ea typeface="Bobby Jones"/>
                <a:cs typeface="Bobby Jones"/>
                <a:sym typeface="Bobby Jones"/>
              </a:rPr>
              <a:t>Baseline Model Evaluation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800029" y="3773347"/>
            <a:ext cx="9459271" cy="2491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pc="28">
                <a:solidFill>
                  <a:srgbClr val="4F242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Validation set evaluation: Performance benchmark established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pc="28">
                <a:solidFill>
                  <a:srgbClr val="4F242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Test set evaluation: Final metrics on held-out data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pc="28">
                <a:solidFill>
                  <a:srgbClr val="4F242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Confusion matrix: Visual representation of classification errors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pc="28">
                <a:solidFill>
                  <a:srgbClr val="4F242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Classification report: Per-class precision, recall, F1-scores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pc="28">
                <a:solidFill>
                  <a:srgbClr val="4F242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Export: Predictions saved for comparison with BERT model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pc="28">
                <a:solidFill>
                  <a:srgbClr val="4F242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Purpose: Reference point for transformer model improvements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EC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05292" y="8413469"/>
            <a:ext cx="19098585" cy="2387881"/>
            <a:chOff x="0" y="0"/>
            <a:chExt cx="5030080" cy="62890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30080" cy="628907"/>
            </a:xfrm>
            <a:custGeom>
              <a:avLst/>
              <a:gdLst/>
              <a:ahLst/>
              <a:cxnLst/>
              <a:rect r="r" b="b" t="t" l="l"/>
              <a:pathLst>
                <a:path h="628907" w="5030080">
                  <a:moveTo>
                    <a:pt x="0" y="0"/>
                  </a:moveTo>
                  <a:lnTo>
                    <a:pt x="5030080" y="0"/>
                  </a:lnTo>
                  <a:lnTo>
                    <a:pt x="5030080" y="628907"/>
                  </a:lnTo>
                  <a:lnTo>
                    <a:pt x="0" y="628907"/>
                  </a:lnTo>
                  <a:close/>
                </a:path>
              </a:pathLst>
            </a:custGeom>
            <a:solidFill>
              <a:srgbClr val="41586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30080" cy="6670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209999" y="3725653"/>
            <a:ext cx="10032599" cy="7411583"/>
          </a:xfrm>
          <a:custGeom>
            <a:avLst/>
            <a:gdLst/>
            <a:ahLst/>
            <a:cxnLst/>
            <a:rect r="r" b="b" t="t" l="l"/>
            <a:pathLst>
              <a:path h="7411583" w="10032599">
                <a:moveTo>
                  <a:pt x="0" y="0"/>
                </a:moveTo>
                <a:lnTo>
                  <a:pt x="10032599" y="0"/>
                </a:lnTo>
                <a:lnTo>
                  <a:pt x="10032599" y="7411582"/>
                </a:lnTo>
                <a:lnTo>
                  <a:pt x="0" y="74115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59201" y="1694035"/>
            <a:ext cx="14969598" cy="3650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60"/>
              </a:lnSpc>
            </a:pPr>
            <a:r>
              <a:rPr lang="en-US" sz="10400">
                <a:solidFill>
                  <a:srgbClr val="523434"/>
                </a:solidFill>
                <a:latin typeface="Bobby Jones"/>
                <a:ea typeface="Bobby Jones"/>
                <a:cs typeface="Bobby Jones"/>
                <a:sym typeface="Bobby Jones"/>
              </a:rPr>
              <a:t>BERT Training and Deployment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DD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05292" y="8413469"/>
            <a:ext cx="19098585" cy="2387881"/>
            <a:chOff x="0" y="0"/>
            <a:chExt cx="5030080" cy="62890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30080" cy="628907"/>
            </a:xfrm>
            <a:custGeom>
              <a:avLst/>
              <a:gdLst/>
              <a:ahLst/>
              <a:cxnLst/>
              <a:rect r="r" b="b" t="t" l="l"/>
              <a:pathLst>
                <a:path h="628907" w="5030080">
                  <a:moveTo>
                    <a:pt x="0" y="0"/>
                  </a:moveTo>
                  <a:lnTo>
                    <a:pt x="5030080" y="0"/>
                  </a:lnTo>
                  <a:lnTo>
                    <a:pt x="5030080" y="628907"/>
                  </a:lnTo>
                  <a:lnTo>
                    <a:pt x="0" y="628907"/>
                  </a:lnTo>
                  <a:close/>
                </a:path>
              </a:pathLst>
            </a:custGeom>
            <a:solidFill>
              <a:srgbClr val="4F242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30080" cy="6670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934828" y="3429619"/>
            <a:ext cx="7973699" cy="6857381"/>
          </a:xfrm>
          <a:custGeom>
            <a:avLst/>
            <a:gdLst/>
            <a:ahLst/>
            <a:cxnLst/>
            <a:rect r="r" b="b" t="t" l="l"/>
            <a:pathLst>
              <a:path h="6857381" w="7973699">
                <a:moveTo>
                  <a:pt x="0" y="0"/>
                </a:moveTo>
                <a:lnTo>
                  <a:pt x="7973700" y="0"/>
                </a:lnTo>
                <a:lnTo>
                  <a:pt x="7973700" y="6857381"/>
                </a:lnTo>
                <a:lnTo>
                  <a:pt x="0" y="68573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125460" y="801426"/>
            <a:ext cx="12037079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4F2422"/>
                </a:solidFill>
                <a:latin typeface="Bobby Jones"/>
                <a:ea typeface="Bobby Jones"/>
                <a:cs typeface="Bobby Jones"/>
                <a:sym typeface="Bobby Jones"/>
              </a:rPr>
              <a:t>BERT Model: BERT-base-uncased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381994"/>
            <a:ext cx="10436175" cy="3108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6358" indent="-323179" lvl="1">
              <a:lnSpc>
                <a:spcPts val="4191"/>
              </a:lnSpc>
              <a:buFont typeface="Arial"/>
              <a:buChar char="•"/>
            </a:pPr>
            <a:r>
              <a:rPr lang="en-US" sz="2993">
                <a:solidFill>
                  <a:srgbClr val="4F242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M</a:t>
            </a:r>
            <a:r>
              <a:rPr lang="en-US" sz="2993">
                <a:solidFill>
                  <a:srgbClr val="4F242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odel: bert-base-uncased (110M parameters)</a:t>
            </a:r>
          </a:p>
          <a:p>
            <a:pPr algn="just" marL="646358" indent="-323179" lvl="1">
              <a:lnSpc>
                <a:spcPts val="4191"/>
              </a:lnSpc>
              <a:buFont typeface="Arial"/>
              <a:buChar char="•"/>
            </a:pPr>
            <a:r>
              <a:rPr lang="en-US" sz="2993">
                <a:solidFill>
                  <a:srgbClr val="4F242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Pre-training: English language understanding</a:t>
            </a:r>
          </a:p>
          <a:p>
            <a:pPr algn="just" marL="646358" indent="-323179" lvl="1">
              <a:lnSpc>
                <a:spcPts val="4191"/>
              </a:lnSpc>
              <a:buFont typeface="Arial"/>
              <a:buChar char="•"/>
            </a:pPr>
            <a:r>
              <a:rPr lang="en-US" sz="2993">
                <a:solidFill>
                  <a:srgbClr val="4F242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Tokenization: WordPiece tokenizer with 30k vocabulary</a:t>
            </a:r>
          </a:p>
          <a:p>
            <a:pPr algn="just" marL="646358" indent="-323179" lvl="1">
              <a:lnSpc>
                <a:spcPts val="4191"/>
              </a:lnSpc>
              <a:buFont typeface="Arial"/>
              <a:buChar char="•"/>
            </a:pPr>
            <a:r>
              <a:rPr lang="en-US" sz="2993">
                <a:solidFill>
                  <a:srgbClr val="4F242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Max sequence length: 128 tokens (standard for tweets)</a:t>
            </a:r>
          </a:p>
          <a:p>
            <a:pPr algn="just" marL="646358" indent="-323179" lvl="1">
              <a:lnSpc>
                <a:spcPts val="4191"/>
              </a:lnSpc>
              <a:buFont typeface="Arial"/>
              <a:buChar char="•"/>
            </a:pPr>
            <a:r>
              <a:rPr lang="en-US" sz="2993">
                <a:solidFill>
                  <a:srgbClr val="4F242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Mixed precision: FP16 training for efficiency</a:t>
            </a:r>
          </a:p>
          <a:p>
            <a:pPr algn="just" marL="646358" indent="-323179" lvl="1">
              <a:lnSpc>
                <a:spcPts val="4191"/>
              </a:lnSpc>
              <a:buFont typeface="Arial"/>
              <a:buChar char="•"/>
            </a:pPr>
            <a:r>
              <a:rPr lang="en-US" sz="2993">
                <a:solidFill>
                  <a:srgbClr val="4F242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Device: CUDA GPU when available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DD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05292" y="8413469"/>
            <a:ext cx="19098585" cy="2387881"/>
            <a:chOff x="0" y="0"/>
            <a:chExt cx="5030080" cy="62890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30080" cy="628907"/>
            </a:xfrm>
            <a:custGeom>
              <a:avLst/>
              <a:gdLst/>
              <a:ahLst/>
              <a:cxnLst/>
              <a:rect r="r" b="b" t="t" l="l"/>
              <a:pathLst>
                <a:path h="628907" w="5030080">
                  <a:moveTo>
                    <a:pt x="0" y="0"/>
                  </a:moveTo>
                  <a:lnTo>
                    <a:pt x="5030080" y="0"/>
                  </a:lnTo>
                  <a:lnTo>
                    <a:pt x="5030080" y="628907"/>
                  </a:lnTo>
                  <a:lnTo>
                    <a:pt x="0" y="628907"/>
                  </a:lnTo>
                  <a:close/>
                </a:path>
              </a:pathLst>
            </a:custGeom>
            <a:solidFill>
              <a:srgbClr val="4F242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30080" cy="6670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934828" y="3429619"/>
            <a:ext cx="7973699" cy="6857381"/>
          </a:xfrm>
          <a:custGeom>
            <a:avLst/>
            <a:gdLst/>
            <a:ahLst/>
            <a:cxnLst/>
            <a:rect r="r" b="b" t="t" l="l"/>
            <a:pathLst>
              <a:path h="6857381" w="7973699">
                <a:moveTo>
                  <a:pt x="0" y="0"/>
                </a:moveTo>
                <a:lnTo>
                  <a:pt x="7973700" y="0"/>
                </a:lnTo>
                <a:lnTo>
                  <a:pt x="7973700" y="6857381"/>
                </a:lnTo>
                <a:lnTo>
                  <a:pt x="0" y="68573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125460" y="801426"/>
            <a:ext cx="12037079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4F2422"/>
                </a:solidFill>
                <a:latin typeface="Bobby Jones"/>
                <a:ea typeface="Bobby Jones"/>
                <a:cs typeface="Bobby Jones"/>
                <a:sym typeface="Bobby Jones"/>
              </a:rPr>
              <a:t>Why BERT?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381994"/>
            <a:ext cx="10436175" cy="3108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6358" indent="-323179" lvl="1">
              <a:lnSpc>
                <a:spcPts val="4191"/>
              </a:lnSpc>
              <a:buFont typeface="Arial"/>
              <a:buChar char="•"/>
            </a:pPr>
            <a:r>
              <a:rPr lang="en-US" sz="2993">
                <a:solidFill>
                  <a:srgbClr val="4F242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Bi</a:t>
            </a:r>
            <a:r>
              <a:rPr lang="en-US" sz="2993">
                <a:solidFill>
                  <a:srgbClr val="4F242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directional context: Understands words in both directions</a:t>
            </a:r>
          </a:p>
          <a:p>
            <a:pPr algn="just" marL="646358" indent="-323179" lvl="1">
              <a:lnSpc>
                <a:spcPts val="4191"/>
              </a:lnSpc>
              <a:buFont typeface="Arial"/>
              <a:buChar char="•"/>
            </a:pPr>
            <a:r>
              <a:rPr lang="en-US" sz="2993">
                <a:solidFill>
                  <a:srgbClr val="4F242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Pre-trained on large corpus: General language understanding</a:t>
            </a:r>
          </a:p>
          <a:p>
            <a:pPr algn="just" marL="646358" indent="-323179" lvl="1">
              <a:lnSpc>
                <a:spcPts val="4191"/>
              </a:lnSpc>
              <a:buFont typeface="Arial"/>
              <a:buChar char="•"/>
            </a:pPr>
            <a:r>
              <a:rPr lang="en-US" sz="2993">
                <a:solidFill>
                  <a:srgbClr val="4F242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Context-aware: Handles sarcasm and informal language</a:t>
            </a:r>
          </a:p>
          <a:p>
            <a:pPr algn="just" marL="646358" indent="-323179" lvl="1">
              <a:lnSpc>
                <a:spcPts val="4191"/>
              </a:lnSpc>
              <a:buFont typeface="Arial"/>
              <a:buChar char="•"/>
            </a:pPr>
            <a:r>
              <a:rPr lang="en-US" sz="2993">
                <a:solidFill>
                  <a:srgbClr val="4F242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Proven performance: State-of-the-art on NLP tasks</a:t>
            </a:r>
          </a:p>
          <a:p>
            <a:pPr algn="just" marL="646358" indent="-323179" lvl="1">
              <a:lnSpc>
                <a:spcPts val="4191"/>
              </a:lnSpc>
              <a:buFont typeface="Arial"/>
              <a:buChar char="•"/>
            </a:pPr>
            <a:r>
              <a:rPr lang="en-US" sz="2993">
                <a:solidFill>
                  <a:srgbClr val="4F242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Transfer learning: Fine-tunes effectively on Twitter data</a:t>
            </a:r>
          </a:p>
          <a:p>
            <a:pPr algn="just" marL="646358" indent="-323179" lvl="1">
              <a:lnSpc>
                <a:spcPts val="4191"/>
              </a:lnSpc>
              <a:buFont typeface="Arial"/>
              <a:buChar char="•"/>
            </a:pPr>
            <a:r>
              <a:rPr lang="en-US" sz="2993">
                <a:solidFill>
                  <a:srgbClr val="4F242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Architecture: Transformer-based (robust, well-tested)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DD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05292" y="8413469"/>
            <a:ext cx="19098585" cy="2387881"/>
            <a:chOff x="0" y="0"/>
            <a:chExt cx="5030080" cy="62890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30080" cy="628907"/>
            </a:xfrm>
            <a:custGeom>
              <a:avLst/>
              <a:gdLst/>
              <a:ahLst/>
              <a:cxnLst/>
              <a:rect r="r" b="b" t="t" l="l"/>
              <a:pathLst>
                <a:path h="628907" w="5030080">
                  <a:moveTo>
                    <a:pt x="0" y="0"/>
                  </a:moveTo>
                  <a:lnTo>
                    <a:pt x="5030080" y="0"/>
                  </a:lnTo>
                  <a:lnTo>
                    <a:pt x="5030080" y="628907"/>
                  </a:lnTo>
                  <a:lnTo>
                    <a:pt x="0" y="628907"/>
                  </a:lnTo>
                  <a:close/>
                </a:path>
              </a:pathLst>
            </a:custGeom>
            <a:solidFill>
              <a:srgbClr val="4F242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30080" cy="6670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934828" y="3429619"/>
            <a:ext cx="7973699" cy="6857381"/>
          </a:xfrm>
          <a:custGeom>
            <a:avLst/>
            <a:gdLst/>
            <a:ahLst/>
            <a:cxnLst/>
            <a:rect r="r" b="b" t="t" l="l"/>
            <a:pathLst>
              <a:path h="6857381" w="7973699">
                <a:moveTo>
                  <a:pt x="0" y="0"/>
                </a:moveTo>
                <a:lnTo>
                  <a:pt x="7973700" y="0"/>
                </a:lnTo>
                <a:lnTo>
                  <a:pt x="7973700" y="6857381"/>
                </a:lnTo>
                <a:lnTo>
                  <a:pt x="0" y="68573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125460" y="801426"/>
            <a:ext cx="12037079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4F2422"/>
                </a:solidFill>
                <a:latin typeface="Bobby Jones"/>
                <a:ea typeface="Bobby Jones"/>
                <a:cs typeface="Bobby Jones"/>
                <a:sym typeface="Bobby Jones"/>
              </a:rPr>
              <a:t>Automated Hyperparameter Tuning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372469"/>
            <a:ext cx="9906128" cy="3849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96984" indent="-298492" lvl="1">
              <a:lnSpc>
                <a:spcPts val="3871"/>
              </a:lnSpc>
              <a:buFont typeface="Arial"/>
              <a:buChar char="•"/>
            </a:pPr>
            <a:r>
              <a:rPr lang="en-US" sz="2765">
                <a:solidFill>
                  <a:srgbClr val="4F242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St</a:t>
            </a:r>
            <a:r>
              <a:rPr lang="en-US" sz="2765">
                <a:solidFill>
                  <a:srgbClr val="4F242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rategy: Grid search + Random search combination</a:t>
            </a:r>
          </a:p>
          <a:p>
            <a:pPr algn="just" marL="596984" indent="-298492" lvl="1">
              <a:lnSpc>
                <a:spcPts val="3871"/>
              </a:lnSpc>
              <a:buFont typeface="Arial"/>
              <a:buChar char="•"/>
            </a:pPr>
            <a:r>
              <a:rPr lang="en-US" sz="2765">
                <a:solidFill>
                  <a:srgbClr val="4F242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Grid search: Systematic exploration of predefined parameters</a:t>
            </a:r>
          </a:p>
          <a:p>
            <a:pPr algn="just" marL="596984" indent="-298492" lvl="1">
              <a:lnSpc>
                <a:spcPts val="3871"/>
              </a:lnSpc>
              <a:buFont typeface="Arial"/>
              <a:buChar char="•"/>
            </a:pPr>
            <a:r>
              <a:rPr lang="en-US" sz="2765">
                <a:solidFill>
                  <a:srgbClr val="4F242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Random search: Efficient sampling of hyperparameter space (Optuna)</a:t>
            </a:r>
          </a:p>
          <a:p>
            <a:pPr algn="just" marL="596984" indent="-298492" lvl="1">
              <a:lnSpc>
                <a:spcPts val="3871"/>
              </a:lnSpc>
              <a:buFont typeface="Arial"/>
              <a:buChar char="•"/>
            </a:pPr>
            <a:r>
              <a:rPr lang="en-US" sz="2765">
                <a:solidFill>
                  <a:srgbClr val="4F242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Parameters tuned: Learning rate, batch size, weight decay, epochs</a:t>
            </a:r>
          </a:p>
          <a:p>
            <a:pPr algn="just" marL="596984" indent="-298492" lvl="1">
              <a:lnSpc>
                <a:spcPts val="3871"/>
              </a:lnSpc>
              <a:buFont typeface="Arial"/>
              <a:buChar char="•"/>
            </a:pPr>
            <a:r>
              <a:rPr lang="en-US" sz="2765">
                <a:solidFill>
                  <a:srgbClr val="4F242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Selection criteria: Validation macro-F1 score (primary metric)</a:t>
            </a:r>
          </a:p>
          <a:p>
            <a:pPr algn="just" marL="596984" indent="-298492" lvl="1">
              <a:lnSpc>
                <a:spcPts val="3871"/>
              </a:lnSpc>
              <a:buFont typeface="Arial"/>
              <a:buChar char="•"/>
            </a:pPr>
            <a:r>
              <a:rPr lang="en-US" sz="2765">
                <a:solidFill>
                  <a:srgbClr val="4F242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Best config: lr=2.8e-5, batch=32, weight_decay=0.01-0.08, epochs=2-4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DD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05292" y="8413469"/>
            <a:ext cx="19098585" cy="2387881"/>
            <a:chOff x="0" y="0"/>
            <a:chExt cx="5030080" cy="62890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30080" cy="628907"/>
            </a:xfrm>
            <a:custGeom>
              <a:avLst/>
              <a:gdLst/>
              <a:ahLst/>
              <a:cxnLst/>
              <a:rect r="r" b="b" t="t" l="l"/>
              <a:pathLst>
                <a:path h="628907" w="5030080">
                  <a:moveTo>
                    <a:pt x="0" y="0"/>
                  </a:moveTo>
                  <a:lnTo>
                    <a:pt x="5030080" y="0"/>
                  </a:lnTo>
                  <a:lnTo>
                    <a:pt x="5030080" y="628907"/>
                  </a:lnTo>
                  <a:lnTo>
                    <a:pt x="0" y="628907"/>
                  </a:lnTo>
                  <a:close/>
                </a:path>
              </a:pathLst>
            </a:custGeom>
            <a:solidFill>
              <a:srgbClr val="4F242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30080" cy="6670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934828" y="3429619"/>
            <a:ext cx="7973699" cy="6857381"/>
          </a:xfrm>
          <a:custGeom>
            <a:avLst/>
            <a:gdLst/>
            <a:ahLst/>
            <a:cxnLst/>
            <a:rect r="r" b="b" t="t" l="l"/>
            <a:pathLst>
              <a:path h="6857381" w="7973699">
                <a:moveTo>
                  <a:pt x="0" y="0"/>
                </a:moveTo>
                <a:lnTo>
                  <a:pt x="7973700" y="0"/>
                </a:lnTo>
                <a:lnTo>
                  <a:pt x="7973700" y="6857381"/>
                </a:lnTo>
                <a:lnTo>
                  <a:pt x="0" y="68573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125460" y="801426"/>
            <a:ext cx="12037079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4F2422"/>
                </a:solidFill>
                <a:latin typeface="Bobby Jones"/>
                <a:ea typeface="Bobby Jones"/>
                <a:cs typeface="Bobby Jones"/>
                <a:sym typeface="Bobby Jones"/>
              </a:rPr>
              <a:t>Training Infrastructure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372469"/>
            <a:ext cx="9906128" cy="2884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96984" indent="-298492" lvl="1">
              <a:lnSpc>
                <a:spcPts val="3871"/>
              </a:lnSpc>
              <a:buFont typeface="Arial"/>
              <a:buChar char="•"/>
            </a:pPr>
            <a:r>
              <a:rPr lang="en-US" sz="2765">
                <a:solidFill>
                  <a:srgbClr val="4F242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E</a:t>
            </a:r>
            <a:r>
              <a:rPr lang="en-US" sz="2765">
                <a:solidFill>
                  <a:srgbClr val="4F242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arly stopping: Prevents overfitting, monitors validation F1</a:t>
            </a:r>
          </a:p>
          <a:p>
            <a:pPr algn="just" marL="596984" indent="-298492" lvl="1">
              <a:lnSpc>
                <a:spcPts val="3871"/>
              </a:lnSpc>
              <a:buFont typeface="Arial"/>
              <a:buChar char="•"/>
            </a:pPr>
            <a:r>
              <a:rPr lang="en-US" sz="2765">
                <a:solidFill>
                  <a:srgbClr val="4F242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Learning rate scheduler: Linear warmup + decay</a:t>
            </a:r>
          </a:p>
          <a:p>
            <a:pPr algn="just" marL="596984" indent="-298492" lvl="1">
              <a:lnSpc>
                <a:spcPts val="3871"/>
              </a:lnSpc>
              <a:buFont typeface="Arial"/>
              <a:buChar char="•"/>
            </a:pPr>
            <a:r>
              <a:rPr lang="en-US" sz="2765">
                <a:solidFill>
                  <a:srgbClr val="4F242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Optimizer: AdamW with weight decay regularization</a:t>
            </a:r>
          </a:p>
          <a:p>
            <a:pPr algn="just" marL="596984" indent="-298492" lvl="1">
              <a:lnSpc>
                <a:spcPts val="3871"/>
              </a:lnSpc>
              <a:buFont typeface="Arial"/>
              <a:buChar char="•"/>
            </a:pPr>
            <a:r>
              <a:rPr lang="en-US" sz="2765">
                <a:solidFill>
                  <a:srgbClr val="4F242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Checkpointing: Saves best model based on validation F1</a:t>
            </a:r>
          </a:p>
          <a:p>
            <a:pPr algn="just" marL="596984" indent="-298492" lvl="1">
              <a:lnSpc>
                <a:spcPts val="3871"/>
              </a:lnSpc>
              <a:buFont typeface="Arial"/>
              <a:buChar char="•"/>
            </a:pPr>
            <a:r>
              <a:rPr lang="en-US" sz="2765">
                <a:solidFill>
                  <a:srgbClr val="4F242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Mixed precision: FP16 reduces memory usage by ~50%</a:t>
            </a:r>
          </a:p>
          <a:p>
            <a:pPr algn="just" marL="596984" indent="-298492" lvl="1">
              <a:lnSpc>
                <a:spcPts val="3871"/>
              </a:lnSpc>
              <a:buFont typeface="Arial"/>
              <a:buChar char="•"/>
            </a:pPr>
            <a:r>
              <a:rPr lang="en-US" sz="2765">
                <a:solidFill>
                  <a:srgbClr val="4F242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Training time: ~2-3 minutes per epoch on GPU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DD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05292" y="8413469"/>
            <a:ext cx="19098585" cy="2387881"/>
            <a:chOff x="0" y="0"/>
            <a:chExt cx="5030080" cy="62890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30080" cy="628907"/>
            </a:xfrm>
            <a:custGeom>
              <a:avLst/>
              <a:gdLst/>
              <a:ahLst/>
              <a:cxnLst/>
              <a:rect r="r" b="b" t="t" l="l"/>
              <a:pathLst>
                <a:path h="628907" w="5030080">
                  <a:moveTo>
                    <a:pt x="0" y="0"/>
                  </a:moveTo>
                  <a:lnTo>
                    <a:pt x="5030080" y="0"/>
                  </a:lnTo>
                  <a:lnTo>
                    <a:pt x="5030080" y="628907"/>
                  </a:lnTo>
                  <a:lnTo>
                    <a:pt x="0" y="628907"/>
                  </a:lnTo>
                  <a:close/>
                </a:path>
              </a:pathLst>
            </a:custGeom>
            <a:solidFill>
              <a:srgbClr val="4F242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30080" cy="6670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934828" y="3429619"/>
            <a:ext cx="7973699" cy="6857381"/>
          </a:xfrm>
          <a:custGeom>
            <a:avLst/>
            <a:gdLst/>
            <a:ahLst/>
            <a:cxnLst/>
            <a:rect r="r" b="b" t="t" l="l"/>
            <a:pathLst>
              <a:path h="6857381" w="7973699">
                <a:moveTo>
                  <a:pt x="0" y="0"/>
                </a:moveTo>
                <a:lnTo>
                  <a:pt x="7973700" y="0"/>
                </a:lnTo>
                <a:lnTo>
                  <a:pt x="7973700" y="6857381"/>
                </a:lnTo>
                <a:lnTo>
                  <a:pt x="0" y="68573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125460" y="801426"/>
            <a:ext cx="12037079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4F2422"/>
                </a:solidFill>
                <a:latin typeface="Bobby Jones"/>
                <a:ea typeface="Bobby Jones"/>
                <a:cs typeface="Bobby Jones"/>
                <a:sym typeface="Bobby Jones"/>
              </a:rPr>
              <a:t>BERT Model - Test Set Performance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130990"/>
            <a:ext cx="8868891" cy="340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06761" indent="-353380" lvl="1">
              <a:lnSpc>
                <a:spcPts val="4582"/>
              </a:lnSpc>
              <a:buFont typeface="Arial"/>
              <a:buChar char="•"/>
            </a:pPr>
            <a:r>
              <a:rPr lang="en-US" sz="3273">
                <a:solidFill>
                  <a:srgbClr val="4F242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Accur</a:t>
            </a:r>
            <a:r>
              <a:rPr lang="en-US" sz="3273">
                <a:solidFill>
                  <a:srgbClr val="4F242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acy: 65.93%</a:t>
            </a:r>
          </a:p>
          <a:p>
            <a:pPr algn="just" marL="706761" indent="-353380" lvl="1">
              <a:lnSpc>
                <a:spcPts val="4582"/>
              </a:lnSpc>
              <a:buFont typeface="Arial"/>
              <a:buChar char="•"/>
            </a:pPr>
            <a:r>
              <a:rPr lang="en-US" sz="3273">
                <a:solidFill>
                  <a:srgbClr val="4F242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Macro F1: 66.17%</a:t>
            </a:r>
          </a:p>
          <a:p>
            <a:pPr algn="just" marL="706761" indent="-353380" lvl="1">
              <a:lnSpc>
                <a:spcPts val="4582"/>
              </a:lnSpc>
              <a:buFont typeface="Arial"/>
              <a:buChar char="•"/>
            </a:pPr>
            <a:r>
              <a:rPr lang="en-US" sz="3273">
                <a:solidFill>
                  <a:srgbClr val="4F242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Precision: 68.94%</a:t>
            </a:r>
          </a:p>
          <a:p>
            <a:pPr algn="just" marL="706761" indent="-353380" lvl="1">
              <a:lnSpc>
                <a:spcPts val="4582"/>
              </a:lnSpc>
              <a:buFont typeface="Arial"/>
              <a:buChar char="•"/>
            </a:pPr>
            <a:r>
              <a:rPr lang="en-US" sz="3273">
                <a:solidFill>
                  <a:srgbClr val="4F242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Recall: 66.31%</a:t>
            </a:r>
          </a:p>
          <a:p>
            <a:pPr algn="just" marL="706761" indent="-353380" lvl="1">
              <a:lnSpc>
                <a:spcPts val="4582"/>
              </a:lnSpc>
              <a:buFont typeface="Arial"/>
              <a:buChar char="•"/>
            </a:pPr>
            <a:r>
              <a:rPr lang="en-US" sz="3273">
                <a:solidFill>
                  <a:srgbClr val="4F242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Improvement: +6.14% F1-macro over baseline</a:t>
            </a:r>
          </a:p>
          <a:p>
            <a:pPr algn="just" marL="706761" indent="-353380" lvl="1">
              <a:lnSpc>
                <a:spcPts val="4582"/>
              </a:lnSpc>
              <a:buFont typeface="Arial"/>
              <a:buChar char="•"/>
            </a:pPr>
            <a:r>
              <a:rPr lang="en-US" sz="3273">
                <a:solidFill>
                  <a:srgbClr val="4F242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Best Individual Run: F1-macro 0.6914 (Morales)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DD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05292" y="8413469"/>
            <a:ext cx="19098585" cy="2387881"/>
            <a:chOff x="0" y="0"/>
            <a:chExt cx="5030080" cy="62890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30080" cy="628907"/>
            </a:xfrm>
            <a:custGeom>
              <a:avLst/>
              <a:gdLst/>
              <a:ahLst/>
              <a:cxnLst/>
              <a:rect r="r" b="b" t="t" l="l"/>
              <a:pathLst>
                <a:path h="628907" w="5030080">
                  <a:moveTo>
                    <a:pt x="0" y="0"/>
                  </a:moveTo>
                  <a:lnTo>
                    <a:pt x="5030080" y="0"/>
                  </a:lnTo>
                  <a:lnTo>
                    <a:pt x="5030080" y="628907"/>
                  </a:lnTo>
                  <a:lnTo>
                    <a:pt x="0" y="628907"/>
                  </a:lnTo>
                  <a:close/>
                </a:path>
              </a:pathLst>
            </a:custGeom>
            <a:solidFill>
              <a:srgbClr val="4F242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30080" cy="6670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934828" y="3429619"/>
            <a:ext cx="7973699" cy="6857381"/>
          </a:xfrm>
          <a:custGeom>
            <a:avLst/>
            <a:gdLst/>
            <a:ahLst/>
            <a:cxnLst/>
            <a:rect r="r" b="b" t="t" l="l"/>
            <a:pathLst>
              <a:path h="6857381" w="7973699">
                <a:moveTo>
                  <a:pt x="0" y="0"/>
                </a:moveTo>
                <a:lnTo>
                  <a:pt x="7973700" y="0"/>
                </a:lnTo>
                <a:lnTo>
                  <a:pt x="7973700" y="6857381"/>
                </a:lnTo>
                <a:lnTo>
                  <a:pt x="0" y="68573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125460" y="801426"/>
            <a:ext cx="12037079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4F2422"/>
                </a:solidFill>
                <a:latin typeface="Bobby Jones"/>
                <a:ea typeface="Bobby Jones"/>
                <a:cs typeface="Bobby Jones"/>
                <a:sym typeface="Bobby Jones"/>
              </a:rPr>
              <a:t>Model Export for Deployment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372469"/>
            <a:ext cx="9906128" cy="2884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96984" indent="-298492" lvl="1">
              <a:lnSpc>
                <a:spcPts val="3871"/>
              </a:lnSpc>
              <a:buFont typeface="Arial"/>
              <a:buChar char="•"/>
            </a:pPr>
            <a:r>
              <a:rPr lang="en-US" sz="2765">
                <a:solidFill>
                  <a:srgbClr val="4F242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Qu</a:t>
            </a:r>
            <a:r>
              <a:rPr lang="en-US" sz="2765">
                <a:solidFill>
                  <a:srgbClr val="4F242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antization: PyTorch quantized model (reduced size ~4x)</a:t>
            </a:r>
          </a:p>
          <a:p>
            <a:pPr algn="just" marL="596984" indent="-298492" lvl="1">
              <a:lnSpc>
                <a:spcPts val="3871"/>
              </a:lnSpc>
              <a:buFont typeface="Arial"/>
              <a:buChar char="•"/>
            </a:pPr>
            <a:r>
              <a:rPr lang="en-US" sz="2765">
                <a:solidFill>
                  <a:srgbClr val="4F242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Model formats: Full PyTorch and quantized versions</a:t>
            </a:r>
          </a:p>
          <a:p>
            <a:pPr algn="just" marL="596984" indent="-298492" lvl="1">
              <a:lnSpc>
                <a:spcPts val="3871"/>
              </a:lnSpc>
              <a:buFont typeface="Arial"/>
              <a:buChar char="•"/>
            </a:pPr>
            <a:r>
              <a:rPr lang="en-US" sz="2765">
                <a:solidFill>
                  <a:srgbClr val="4F242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Tokenizer files: WordPiece model and configs</a:t>
            </a:r>
          </a:p>
          <a:p>
            <a:pPr algn="just" marL="596984" indent="-298492" lvl="1">
              <a:lnSpc>
                <a:spcPts val="3871"/>
              </a:lnSpc>
              <a:buFont typeface="Arial"/>
              <a:buChar char="•"/>
            </a:pPr>
            <a:r>
              <a:rPr lang="en-US" sz="2765">
                <a:solidFill>
                  <a:srgbClr val="4F242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Checkpoint: Best model saved in checkpoints/bert-base/best/</a:t>
            </a:r>
          </a:p>
          <a:p>
            <a:pPr algn="just" marL="596984" indent="-298492" lvl="1">
              <a:lnSpc>
                <a:spcPts val="3871"/>
              </a:lnSpc>
              <a:buFont typeface="Arial"/>
              <a:buChar char="•"/>
            </a:pPr>
            <a:r>
              <a:rPr lang="en-US" sz="2765">
                <a:solidFill>
                  <a:srgbClr val="4F242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Format compatibility: Hugging Face transformers compatible</a:t>
            </a:r>
          </a:p>
          <a:p>
            <a:pPr algn="just" marL="596984" indent="-298492" lvl="1">
              <a:lnSpc>
                <a:spcPts val="3871"/>
              </a:lnSpc>
              <a:buFont typeface="Arial"/>
              <a:buChar char="•"/>
            </a:pPr>
            <a:r>
              <a:rPr lang="en-US" sz="2765">
                <a:solidFill>
                  <a:srgbClr val="4F242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Purpose: Enables FastAPI backend and Streamlit UI deployment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EC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05292" y="8413469"/>
            <a:ext cx="19098585" cy="2387881"/>
            <a:chOff x="0" y="0"/>
            <a:chExt cx="5030080" cy="62890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30080" cy="628907"/>
            </a:xfrm>
            <a:custGeom>
              <a:avLst/>
              <a:gdLst/>
              <a:ahLst/>
              <a:cxnLst/>
              <a:rect r="r" b="b" t="t" l="l"/>
              <a:pathLst>
                <a:path h="628907" w="5030080">
                  <a:moveTo>
                    <a:pt x="0" y="0"/>
                  </a:moveTo>
                  <a:lnTo>
                    <a:pt x="5030080" y="0"/>
                  </a:lnTo>
                  <a:lnTo>
                    <a:pt x="5030080" y="628907"/>
                  </a:lnTo>
                  <a:lnTo>
                    <a:pt x="0" y="628907"/>
                  </a:lnTo>
                  <a:close/>
                </a:path>
              </a:pathLst>
            </a:custGeom>
            <a:solidFill>
              <a:srgbClr val="41586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30080" cy="6670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209999" y="3725653"/>
            <a:ext cx="10032599" cy="7411583"/>
          </a:xfrm>
          <a:custGeom>
            <a:avLst/>
            <a:gdLst/>
            <a:ahLst/>
            <a:cxnLst/>
            <a:rect r="r" b="b" t="t" l="l"/>
            <a:pathLst>
              <a:path h="7411583" w="10032599">
                <a:moveTo>
                  <a:pt x="0" y="0"/>
                </a:moveTo>
                <a:lnTo>
                  <a:pt x="10032599" y="0"/>
                </a:lnTo>
                <a:lnTo>
                  <a:pt x="10032599" y="7411582"/>
                </a:lnTo>
                <a:lnTo>
                  <a:pt x="0" y="74115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59201" y="2714733"/>
            <a:ext cx="14969598" cy="1802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60"/>
              </a:lnSpc>
            </a:pPr>
            <a:r>
              <a:rPr lang="en-US" sz="10400">
                <a:solidFill>
                  <a:srgbClr val="523434"/>
                </a:solidFill>
                <a:latin typeface="Bobby Jones"/>
                <a:ea typeface="Bobby Jones"/>
                <a:cs typeface="Bobby Jones"/>
                <a:sym typeface="Bobby Jones"/>
              </a:rPr>
              <a:t>Evaluation and Testing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DA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05292" y="8413469"/>
            <a:ext cx="19098585" cy="2387881"/>
            <a:chOff x="0" y="0"/>
            <a:chExt cx="5030080" cy="62890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30080" cy="628907"/>
            </a:xfrm>
            <a:custGeom>
              <a:avLst/>
              <a:gdLst/>
              <a:ahLst/>
              <a:cxnLst/>
              <a:rect r="r" b="b" t="t" l="l"/>
              <a:pathLst>
                <a:path h="628907" w="5030080">
                  <a:moveTo>
                    <a:pt x="0" y="0"/>
                  </a:moveTo>
                  <a:lnTo>
                    <a:pt x="5030080" y="0"/>
                  </a:lnTo>
                  <a:lnTo>
                    <a:pt x="5030080" y="628907"/>
                  </a:lnTo>
                  <a:lnTo>
                    <a:pt x="0" y="628907"/>
                  </a:lnTo>
                  <a:close/>
                </a:path>
              </a:pathLst>
            </a:custGeom>
            <a:solidFill>
              <a:srgbClr val="41586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30080" cy="6670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722156" y="5581905"/>
            <a:ext cx="10164805" cy="4802870"/>
          </a:xfrm>
          <a:custGeom>
            <a:avLst/>
            <a:gdLst/>
            <a:ahLst/>
            <a:cxnLst/>
            <a:rect r="r" b="b" t="t" l="l"/>
            <a:pathLst>
              <a:path h="4802870" w="10164805">
                <a:moveTo>
                  <a:pt x="0" y="0"/>
                </a:moveTo>
                <a:lnTo>
                  <a:pt x="10164805" y="0"/>
                </a:lnTo>
                <a:lnTo>
                  <a:pt x="10164805" y="4802870"/>
                </a:lnTo>
                <a:lnTo>
                  <a:pt x="0" y="48028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2262105"/>
            <a:ext cx="14133840" cy="299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15207" indent="-307604" lvl="1">
              <a:lnSpc>
                <a:spcPts val="3989"/>
              </a:lnSpc>
              <a:buFont typeface="Arial"/>
              <a:buChar char="•"/>
            </a:pPr>
            <a:r>
              <a:rPr lang="en-US" sz="2849" spc="34">
                <a:solidFill>
                  <a:srgbClr val="523434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Fercy Enriquez: 17 runs (2 b</a:t>
            </a:r>
            <a:r>
              <a:rPr lang="en-US" sz="2849" spc="34">
                <a:solidFill>
                  <a:srgbClr val="523434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aseline + 5 grid + 10 random), Best F1: 0.6912, 30 test samples</a:t>
            </a:r>
          </a:p>
          <a:p>
            <a:pPr algn="just" marL="615207" indent="-307604" lvl="1">
              <a:lnSpc>
                <a:spcPts val="3989"/>
              </a:lnSpc>
              <a:buFont typeface="Arial"/>
              <a:buChar char="•"/>
            </a:pPr>
            <a:r>
              <a:rPr lang="en-US" sz="2849" spc="34">
                <a:solidFill>
                  <a:srgbClr val="523434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Vince Morales: 15 runs (2 baseline + 6 grid + 7 random), Best F1: 0.6914, 20 test samples</a:t>
            </a:r>
          </a:p>
          <a:p>
            <a:pPr algn="just" marL="615207" indent="-307604" lvl="1">
              <a:lnSpc>
                <a:spcPts val="3989"/>
              </a:lnSpc>
              <a:buFont typeface="Arial"/>
              <a:buChar char="•"/>
            </a:pPr>
            <a:r>
              <a:rPr lang="en-US" sz="2849" spc="34">
                <a:solidFill>
                  <a:srgbClr val="523434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Russel Dulo: 14 runs (2 baseline + 6 grid + 6 random), Best F1: 0.6888, 25 test samples</a:t>
            </a:r>
          </a:p>
          <a:p>
            <a:pPr algn="just" marL="615207" indent="-307604" lvl="1">
              <a:lnSpc>
                <a:spcPts val="3989"/>
              </a:lnSpc>
              <a:buFont typeface="Arial"/>
              <a:buChar char="•"/>
            </a:pPr>
            <a:r>
              <a:rPr lang="en-US" sz="2849" spc="34">
                <a:solidFill>
                  <a:srgbClr val="523434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Total experiments: 46 runs across all members</a:t>
            </a:r>
          </a:p>
          <a:p>
            <a:pPr algn="just" marL="615207" indent="-307604" lvl="1">
              <a:lnSpc>
                <a:spcPts val="3989"/>
              </a:lnSpc>
              <a:buFont typeface="Arial"/>
              <a:buChar char="•"/>
            </a:pPr>
            <a:r>
              <a:rPr lang="en-US" sz="2849" spc="34">
                <a:solidFill>
                  <a:srgbClr val="523434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Inference testing: 75 total sample tweets tested</a:t>
            </a:r>
          </a:p>
          <a:p>
            <a:pPr algn="just" marL="615207" indent="-307604" lvl="1">
              <a:lnSpc>
                <a:spcPts val="3989"/>
              </a:lnSpc>
              <a:buFont typeface="Arial"/>
              <a:buChar char="•"/>
            </a:pPr>
            <a:r>
              <a:rPr lang="en-US" sz="2849" spc="34">
                <a:solidFill>
                  <a:srgbClr val="523434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Coverage: Explicit toxicity, sarcasm, neutral, positive expressions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125460" y="942975"/>
            <a:ext cx="12037079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523434"/>
                </a:solidFill>
                <a:latin typeface="Bobby Jones"/>
                <a:ea typeface="Bobby Jones"/>
                <a:cs typeface="Bobby Jones"/>
                <a:sym typeface="Bobby Jones"/>
              </a:rPr>
              <a:t>Individual Experiment Contributions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DA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05292" y="8413469"/>
            <a:ext cx="19098585" cy="2387881"/>
            <a:chOff x="0" y="0"/>
            <a:chExt cx="5030080" cy="62890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30080" cy="628907"/>
            </a:xfrm>
            <a:custGeom>
              <a:avLst/>
              <a:gdLst/>
              <a:ahLst/>
              <a:cxnLst/>
              <a:rect r="r" b="b" t="t" l="l"/>
              <a:pathLst>
                <a:path h="628907" w="5030080">
                  <a:moveTo>
                    <a:pt x="0" y="0"/>
                  </a:moveTo>
                  <a:lnTo>
                    <a:pt x="5030080" y="0"/>
                  </a:lnTo>
                  <a:lnTo>
                    <a:pt x="5030080" y="628907"/>
                  </a:lnTo>
                  <a:lnTo>
                    <a:pt x="0" y="628907"/>
                  </a:lnTo>
                  <a:close/>
                </a:path>
              </a:pathLst>
            </a:custGeom>
            <a:solidFill>
              <a:srgbClr val="41586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30080" cy="6670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722156" y="5581905"/>
            <a:ext cx="10164805" cy="4802870"/>
          </a:xfrm>
          <a:custGeom>
            <a:avLst/>
            <a:gdLst/>
            <a:ahLst/>
            <a:cxnLst/>
            <a:rect r="r" b="b" t="t" l="l"/>
            <a:pathLst>
              <a:path h="4802870" w="10164805">
                <a:moveTo>
                  <a:pt x="0" y="0"/>
                </a:moveTo>
                <a:lnTo>
                  <a:pt x="10164805" y="0"/>
                </a:lnTo>
                <a:lnTo>
                  <a:pt x="10164805" y="4802870"/>
                </a:lnTo>
                <a:lnTo>
                  <a:pt x="0" y="48028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2262105"/>
            <a:ext cx="14133840" cy="3503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15207" indent="-307604" lvl="1">
              <a:lnSpc>
                <a:spcPts val="3989"/>
              </a:lnSpc>
              <a:buFont typeface="Arial"/>
              <a:buChar char="•"/>
            </a:pPr>
            <a:r>
              <a:rPr lang="en-US" sz="2849" spc="34">
                <a:solidFill>
                  <a:srgbClr val="523434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V</a:t>
            </a:r>
            <a:r>
              <a:rPr lang="en-US" sz="2849" spc="34">
                <a:solidFill>
                  <a:srgbClr val="523434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alidation set evaluation: 4,525 samples</a:t>
            </a:r>
          </a:p>
          <a:p>
            <a:pPr algn="just" marL="615207" indent="-307604" lvl="1">
              <a:lnSpc>
                <a:spcPts val="3989"/>
              </a:lnSpc>
              <a:buFont typeface="Arial"/>
              <a:buChar char="•"/>
            </a:pPr>
            <a:r>
              <a:rPr lang="en-US" sz="2849" spc="34">
                <a:solidFill>
                  <a:srgbClr val="523434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Test set evaluation: 4,525 samples (held-out)</a:t>
            </a:r>
          </a:p>
          <a:p>
            <a:pPr algn="just" marL="615207" indent="-307604" lvl="1">
              <a:lnSpc>
                <a:spcPts val="3989"/>
              </a:lnSpc>
              <a:buFont typeface="Arial"/>
              <a:buChar char="•"/>
            </a:pPr>
            <a:r>
              <a:rPr lang="en-US" sz="2849" spc="34">
                <a:solidFill>
                  <a:srgbClr val="523434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Metrics: Accuracy, Precision, Recall, F1-score (macro and weighted)</a:t>
            </a:r>
          </a:p>
          <a:p>
            <a:pPr algn="just" marL="615207" indent="-307604" lvl="1">
              <a:lnSpc>
                <a:spcPts val="3989"/>
              </a:lnSpc>
              <a:buFont typeface="Arial"/>
              <a:buChar char="•"/>
            </a:pPr>
            <a:r>
              <a:rPr lang="en-US" sz="2849" spc="34">
                <a:solidFill>
                  <a:srgbClr val="523434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Per-class metrics: Individual performance for each sentiment class</a:t>
            </a:r>
          </a:p>
          <a:p>
            <a:pPr algn="just" marL="615207" indent="-307604" lvl="1">
              <a:lnSpc>
                <a:spcPts val="3989"/>
              </a:lnSpc>
              <a:buFont typeface="Arial"/>
              <a:buChar char="•"/>
            </a:pPr>
            <a:r>
              <a:rPr lang="en-US" sz="2849" spc="34">
                <a:solidFill>
                  <a:srgbClr val="523434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Confusion matrices: Visual representation of error patterns</a:t>
            </a:r>
          </a:p>
          <a:p>
            <a:pPr algn="just" marL="615207" indent="-307604" lvl="1">
              <a:lnSpc>
                <a:spcPts val="3989"/>
              </a:lnSpc>
              <a:buFont typeface="Arial"/>
              <a:buChar char="•"/>
            </a:pPr>
            <a:r>
              <a:rPr lang="en-US" sz="2849" spc="34">
                <a:solidFill>
                  <a:srgbClr val="523434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ROC-AUC and PR-AUC: Precision-recall trade-off analysis</a:t>
            </a:r>
          </a:p>
          <a:p>
            <a:pPr algn="just" marL="615207" indent="-307604" lvl="1">
              <a:lnSpc>
                <a:spcPts val="3989"/>
              </a:lnSpc>
              <a:buFont typeface="Arial"/>
              <a:buChar char="•"/>
            </a:pPr>
            <a:r>
              <a:rPr lang="en-US" sz="2849" spc="34">
                <a:solidFill>
                  <a:srgbClr val="523434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Export formats: CSV, JSON, Markdown for easy access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125460" y="942975"/>
            <a:ext cx="12037079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523434"/>
                </a:solidFill>
                <a:latin typeface="Bobby Jones"/>
                <a:ea typeface="Bobby Jones"/>
                <a:cs typeface="Bobby Jones"/>
                <a:sym typeface="Bobby Jones"/>
              </a:rPr>
              <a:t>Comprehensive Evaluation Framework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DD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05292" y="8413469"/>
            <a:ext cx="19098585" cy="2387881"/>
            <a:chOff x="0" y="0"/>
            <a:chExt cx="5030080" cy="62890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30080" cy="628907"/>
            </a:xfrm>
            <a:custGeom>
              <a:avLst/>
              <a:gdLst/>
              <a:ahLst/>
              <a:cxnLst/>
              <a:rect r="r" b="b" t="t" l="l"/>
              <a:pathLst>
                <a:path h="628907" w="5030080">
                  <a:moveTo>
                    <a:pt x="0" y="0"/>
                  </a:moveTo>
                  <a:lnTo>
                    <a:pt x="5030080" y="0"/>
                  </a:lnTo>
                  <a:lnTo>
                    <a:pt x="5030080" y="628907"/>
                  </a:lnTo>
                  <a:lnTo>
                    <a:pt x="0" y="628907"/>
                  </a:lnTo>
                  <a:close/>
                </a:path>
              </a:pathLst>
            </a:custGeom>
            <a:solidFill>
              <a:srgbClr val="4F242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30080" cy="6670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288629" y="2242820"/>
            <a:ext cx="5970671" cy="5970671"/>
          </a:xfrm>
          <a:custGeom>
            <a:avLst/>
            <a:gdLst/>
            <a:ahLst/>
            <a:cxnLst/>
            <a:rect r="r" b="b" t="t" l="l"/>
            <a:pathLst>
              <a:path h="5970671" w="5970671">
                <a:moveTo>
                  <a:pt x="0" y="0"/>
                </a:moveTo>
                <a:lnTo>
                  <a:pt x="5970671" y="0"/>
                </a:lnTo>
                <a:lnTo>
                  <a:pt x="5970671" y="5970671"/>
                </a:lnTo>
                <a:lnTo>
                  <a:pt x="0" y="59706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125460" y="941070"/>
            <a:ext cx="12037079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4F2422"/>
                </a:solidFill>
                <a:latin typeface="Bobby Jones"/>
                <a:ea typeface="Bobby Jones"/>
                <a:cs typeface="Bobby Jones"/>
                <a:sym typeface="Bobby Jones"/>
              </a:rPr>
              <a:t>Baseline Model - Confusion Matrix (Test Set)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273727"/>
            <a:ext cx="9589577" cy="147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 spc="33">
                <a:solidFill>
                  <a:srgbClr val="4F242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Baseline performance: 62.24% accuracy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 spc="33">
                <a:solidFill>
                  <a:srgbClr val="4F242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Shows classification patterns across three classes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 spc="33">
                <a:solidFill>
                  <a:srgbClr val="4F242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Identifies areas for improvement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DD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05292" y="8413469"/>
            <a:ext cx="19098585" cy="2387881"/>
            <a:chOff x="0" y="0"/>
            <a:chExt cx="5030080" cy="62890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30080" cy="628907"/>
            </a:xfrm>
            <a:custGeom>
              <a:avLst/>
              <a:gdLst/>
              <a:ahLst/>
              <a:cxnLst/>
              <a:rect r="r" b="b" t="t" l="l"/>
              <a:pathLst>
                <a:path h="628907" w="5030080">
                  <a:moveTo>
                    <a:pt x="0" y="0"/>
                  </a:moveTo>
                  <a:lnTo>
                    <a:pt x="5030080" y="0"/>
                  </a:lnTo>
                  <a:lnTo>
                    <a:pt x="5030080" y="628907"/>
                  </a:lnTo>
                  <a:lnTo>
                    <a:pt x="0" y="628907"/>
                  </a:lnTo>
                  <a:close/>
                </a:path>
              </a:pathLst>
            </a:custGeom>
            <a:solidFill>
              <a:srgbClr val="4F242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30080" cy="6670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288629" y="2242820"/>
            <a:ext cx="5970671" cy="5970671"/>
          </a:xfrm>
          <a:custGeom>
            <a:avLst/>
            <a:gdLst/>
            <a:ahLst/>
            <a:cxnLst/>
            <a:rect r="r" b="b" t="t" l="l"/>
            <a:pathLst>
              <a:path h="5970671" w="5970671">
                <a:moveTo>
                  <a:pt x="0" y="0"/>
                </a:moveTo>
                <a:lnTo>
                  <a:pt x="5970671" y="0"/>
                </a:lnTo>
                <a:lnTo>
                  <a:pt x="5970671" y="5970671"/>
                </a:lnTo>
                <a:lnTo>
                  <a:pt x="0" y="59706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288629" y="2242820"/>
            <a:ext cx="5970671" cy="5970671"/>
          </a:xfrm>
          <a:custGeom>
            <a:avLst/>
            <a:gdLst/>
            <a:ahLst/>
            <a:cxnLst/>
            <a:rect r="r" b="b" t="t" l="l"/>
            <a:pathLst>
              <a:path h="5970671" w="5970671">
                <a:moveTo>
                  <a:pt x="0" y="0"/>
                </a:moveTo>
                <a:lnTo>
                  <a:pt x="5970671" y="0"/>
                </a:lnTo>
                <a:lnTo>
                  <a:pt x="5970671" y="5970671"/>
                </a:lnTo>
                <a:lnTo>
                  <a:pt x="0" y="59706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125460" y="941070"/>
            <a:ext cx="12037079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4F2422"/>
                </a:solidFill>
                <a:latin typeface="Bobby Jones"/>
                <a:ea typeface="Bobby Jones"/>
                <a:cs typeface="Bobby Jones"/>
                <a:sym typeface="Bobby Jones"/>
              </a:rPr>
              <a:t>Baseline Model - Confusion Matrix (Test Set)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273727"/>
            <a:ext cx="9589577" cy="147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 spc="33">
                <a:solidFill>
                  <a:srgbClr val="4F242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BERT performance: 65.93% accuracy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 spc="33">
                <a:solidFill>
                  <a:srgbClr val="4F242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Improved classification over baseline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 spc="33">
                <a:solidFill>
                  <a:srgbClr val="4F242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Better handling of context-dependent language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DA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05292" y="8413469"/>
            <a:ext cx="19098585" cy="2387881"/>
            <a:chOff x="0" y="0"/>
            <a:chExt cx="5030080" cy="62890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30080" cy="628907"/>
            </a:xfrm>
            <a:custGeom>
              <a:avLst/>
              <a:gdLst/>
              <a:ahLst/>
              <a:cxnLst/>
              <a:rect r="r" b="b" t="t" l="l"/>
              <a:pathLst>
                <a:path h="628907" w="5030080">
                  <a:moveTo>
                    <a:pt x="0" y="0"/>
                  </a:moveTo>
                  <a:lnTo>
                    <a:pt x="5030080" y="0"/>
                  </a:lnTo>
                  <a:lnTo>
                    <a:pt x="5030080" y="628907"/>
                  </a:lnTo>
                  <a:lnTo>
                    <a:pt x="0" y="628907"/>
                  </a:lnTo>
                  <a:close/>
                </a:path>
              </a:pathLst>
            </a:custGeom>
            <a:solidFill>
              <a:srgbClr val="41586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30080" cy="6670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17603" y="2684550"/>
            <a:ext cx="4626576" cy="8116800"/>
          </a:xfrm>
          <a:custGeom>
            <a:avLst/>
            <a:gdLst/>
            <a:ahLst/>
            <a:cxnLst/>
            <a:rect r="r" b="b" t="t" l="l"/>
            <a:pathLst>
              <a:path h="8116800" w="4626576">
                <a:moveTo>
                  <a:pt x="0" y="0"/>
                </a:moveTo>
                <a:lnTo>
                  <a:pt x="4626576" y="0"/>
                </a:lnTo>
                <a:lnTo>
                  <a:pt x="4626576" y="8116800"/>
                </a:lnTo>
                <a:lnTo>
                  <a:pt x="0" y="8116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125460" y="941070"/>
            <a:ext cx="12037079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523434"/>
                </a:solidFill>
                <a:latin typeface="Bobby Jones"/>
                <a:ea typeface="Bobby Jones"/>
                <a:cs typeface="Bobby Jones"/>
                <a:sym typeface="Bobby Jones"/>
              </a:rPr>
              <a:t>Model Comparison Summary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670709" y="3362609"/>
            <a:ext cx="10588591" cy="2957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 spc="33">
                <a:solidFill>
                  <a:srgbClr val="523434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B</a:t>
            </a:r>
            <a:r>
              <a:rPr lang="en-US" sz="2799" spc="33">
                <a:solidFill>
                  <a:srgbClr val="523434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aseline (TF-IDF + LogReg): 62.24% accuracy, 62.34% macro-F1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 spc="33">
                <a:solidFill>
                  <a:srgbClr val="523434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BERT (fine-tuned): 65.93% accuracy, 66.17% macro-F1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 spc="33">
                <a:solidFill>
                  <a:srgbClr val="523434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Improvement: +3.69% accuracy, +6.14% macro-F1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 spc="33">
                <a:solidFill>
                  <a:srgbClr val="523434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BERT advantage: Better context understanding, handles sarcasm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 spc="33">
                <a:solidFill>
                  <a:srgbClr val="523434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Baseline advantage: Simpler, faster, more interpretable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 spc="33">
                <a:solidFill>
                  <a:srgbClr val="523434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Both models evaluated on identical test set for fair comparison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EC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05292" y="8413469"/>
            <a:ext cx="19098585" cy="2387881"/>
            <a:chOff x="0" y="0"/>
            <a:chExt cx="5030080" cy="62890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30080" cy="628907"/>
            </a:xfrm>
            <a:custGeom>
              <a:avLst/>
              <a:gdLst/>
              <a:ahLst/>
              <a:cxnLst/>
              <a:rect r="r" b="b" t="t" l="l"/>
              <a:pathLst>
                <a:path h="628907" w="5030080">
                  <a:moveTo>
                    <a:pt x="0" y="0"/>
                  </a:moveTo>
                  <a:lnTo>
                    <a:pt x="5030080" y="0"/>
                  </a:lnTo>
                  <a:lnTo>
                    <a:pt x="5030080" y="628907"/>
                  </a:lnTo>
                  <a:lnTo>
                    <a:pt x="0" y="628907"/>
                  </a:lnTo>
                  <a:close/>
                </a:path>
              </a:pathLst>
            </a:custGeom>
            <a:solidFill>
              <a:srgbClr val="41586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30080" cy="6670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209999" y="3725653"/>
            <a:ext cx="10032599" cy="7411583"/>
          </a:xfrm>
          <a:custGeom>
            <a:avLst/>
            <a:gdLst/>
            <a:ahLst/>
            <a:cxnLst/>
            <a:rect r="r" b="b" t="t" l="l"/>
            <a:pathLst>
              <a:path h="7411583" w="10032599">
                <a:moveTo>
                  <a:pt x="0" y="0"/>
                </a:moveTo>
                <a:lnTo>
                  <a:pt x="10032599" y="0"/>
                </a:lnTo>
                <a:lnTo>
                  <a:pt x="10032599" y="7411582"/>
                </a:lnTo>
                <a:lnTo>
                  <a:pt x="0" y="74115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59201" y="2714733"/>
            <a:ext cx="14969598" cy="1802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60"/>
              </a:lnSpc>
            </a:pPr>
            <a:r>
              <a:rPr lang="en-US" sz="10400">
                <a:solidFill>
                  <a:srgbClr val="523434"/>
                </a:solidFill>
                <a:latin typeface="Bobby Jones"/>
                <a:ea typeface="Bobby Jones"/>
                <a:cs typeface="Bobby Jones"/>
                <a:sym typeface="Bobby Jones"/>
              </a:rPr>
              <a:t>Results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DD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05292" y="8413469"/>
            <a:ext cx="19098585" cy="2387881"/>
            <a:chOff x="0" y="0"/>
            <a:chExt cx="5030080" cy="62890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30080" cy="628907"/>
            </a:xfrm>
            <a:custGeom>
              <a:avLst/>
              <a:gdLst/>
              <a:ahLst/>
              <a:cxnLst/>
              <a:rect r="r" b="b" t="t" l="l"/>
              <a:pathLst>
                <a:path h="628907" w="5030080">
                  <a:moveTo>
                    <a:pt x="0" y="0"/>
                  </a:moveTo>
                  <a:lnTo>
                    <a:pt x="5030080" y="0"/>
                  </a:lnTo>
                  <a:lnTo>
                    <a:pt x="5030080" y="628907"/>
                  </a:lnTo>
                  <a:lnTo>
                    <a:pt x="0" y="628907"/>
                  </a:lnTo>
                  <a:close/>
                </a:path>
              </a:pathLst>
            </a:custGeom>
            <a:solidFill>
              <a:srgbClr val="4F242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30080" cy="6670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0">
            <a:off x="-1857426" y="3016816"/>
            <a:ext cx="10618962" cy="8242969"/>
          </a:xfrm>
          <a:custGeom>
            <a:avLst/>
            <a:gdLst/>
            <a:ahLst/>
            <a:cxnLst/>
            <a:rect r="r" b="b" t="t" l="l"/>
            <a:pathLst>
              <a:path h="8242969" w="10618962">
                <a:moveTo>
                  <a:pt x="10618961" y="0"/>
                </a:moveTo>
                <a:lnTo>
                  <a:pt x="0" y="0"/>
                </a:lnTo>
                <a:lnTo>
                  <a:pt x="0" y="8242969"/>
                </a:lnTo>
                <a:lnTo>
                  <a:pt x="10618961" y="8242969"/>
                </a:lnTo>
                <a:lnTo>
                  <a:pt x="1061896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125460" y="941070"/>
            <a:ext cx="12037079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4F2422"/>
                </a:solidFill>
                <a:latin typeface="Bobby Jones"/>
                <a:ea typeface="Bobby Jones"/>
                <a:cs typeface="Bobby Jones"/>
                <a:sym typeface="Bobby Jones"/>
              </a:rPr>
              <a:t>Final Performance Comparison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276605" y="2959666"/>
            <a:ext cx="8982695" cy="3909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 spc="38">
                <a:solidFill>
                  <a:srgbClr val="4F242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Basel</a:t>
            </a:r>
            <a:r>
              <a:rPr lang="en-US" sz="3200" spc="38">
                <a:solidFill>
                  <a:srgbClr val="4F242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ine Accuracy: 62.24%</a:t>
            </a:r>
          </a:p>
          <a:p>
            <a:pPr algn="just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 spc="38">
                <a:solidFill>
                  <a:srgbClr val="4F242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Baseline Macro F1: 62.34%</a:t>
            </a:r>
          </a:p>
          <a:p>
            <a:pPr algn="just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 spc="38">
                <a:solidFill>
                  <a:srgbClr val="4F242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BERT Accuracy: 65.93%</a:t>
            </a:r>
          </a:p>
          <a:p>
            <a:pPr algn="just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 spc="38">
                <a:solidFill>
                  <a:srgbClr val="4F242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BERT Macro F1: 66.17%</a:t>
            </a:r>
          </a:p>
          <a:p>
            <a:pPr algn="just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 spc="38">
                <a:solidFill>
                  <a:srgbClr val="4F242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Improvement: +6.14% F1-macro</a:t>
            </a:r>
          </a:p>
          <a:p>
            <a:pPr algn="just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 spc="38">
                <a:solidFill>
                  <a:srgbClr val="4F242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Target F1: &gt;85% (Not achieved, but significant improvement)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EC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05292" y="8413469"/>
            <a:ext cx="19098585" cy="2387881"/>
            <a:chOff x="0" y="0"/>
            <a:chExt cx="5030080" cy="62890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30080" cy="628907"/>
            </a:xfrm>
            <a:custGeom>
              <a:avLst/>
              <a:gdLst/>
              <a:ahLst/>
              <a:cxnLst/>
              <a:rect r="r" b="b" t="t" l="l"/>
              <a:pathLst>
                <a:path h="628907" w="5030080">
                  <a:moveTo>
                    <a:pt x="0" y="0"/>
                  </a:moveTo>
                  <a:lnTo>
                    <a:pt x="5030080" y="0"/>
                  </a:lnTo>
                  <a:lnTo>
                    <a:pt x="5030080" y="628907"/>
                  </a:lnTo>
                  <a:lnTo>
                    <a:pt x="0" y="628907"/>
                  </a:lnTo>
                  <a:close/>
                </a:path>
              </a:pathLst>
            </a:custGeom>
            <a:solidFill>
              <a:srgbClr val="41586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30080" cy="6670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209999" y="3725653"/>
            <a:ext cx="10032599" cy="7411583"/>
          </a:xfrm>
          <a:custGeom>
            <a:avLst/>
            <a:gdLst/>
            <a:ahLst/>
            <a:cxnLst/>
            <a:rect r="r" b="b" t="t" l="l"/>
            <a:pathLst>
              <a:path h="7411583" w="10032599">
                <a:moveTo>
                  <a:pt x="0" y="0"/>
                </a:moveTo>
                <a:lnTo>
                  <a:pt x="10032599" y="0"/>
                </a:lnTo>
                <a:lnTo>
                  <a:pt x="10032599" y="7411582"/>
                </a:lnTo>
                <a:lnTo>
                  <a:pt x="0" y="74115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59201" y="1694035"/>
            <a:ext cx="14969598" cy="3650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60"/>
              </a:lnSpc>
            </a:pPr>
            <a:r>
              <a:rPr lang="en-US" sz="10400">
                <a:solidFill>
                  <a:srgbClr val="523434"/>
                </a:solidFill>
                <a:latin typeface="Bobby Jones"/>
                <a:ea typeface="Bobby Jones"/>
                <a:cs typeface="Bobby Jones"/>
                <a:sym typeface="Bobby Jones"/>
              </a:rPr>
              <a:t>SDG 16: Peace, Justice and Strong Institutions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DA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05292" y="8413469"/>
            <a:ext cx="19098585" cy="2387881"/>
            <a:chOff x="0" y="0"/>
            <a:chExt cx="5030080" cy="62890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30080" cy="628907"/>
            </a:xfrm>
            <a:custGeom>
              <a:avLst/>
              <a:gdLst/>
              <a:ahLst/>
              <a:cxnLst/>
              <a:rect r="r" b="b" t="t" l="l"/>
              <a:pathLst>
                <a:path h="628907" w="5030080">
                  <a:moveTo>
                    <a:pt x="0" y="0"/>
                  </a:moveTo>
                  <a:lnTo>
                    <a:pt x="5030080" y="0"/>
                  </a:lnTo>
                  <a:lnTo>
                    <a:pt x="5030080" y="628907"/>
                  </a:lnTo>
                  <a:lnTo>
                    <a:pt x="0" y="628907"/>
                  </a:lnTo>
                  <a:close/>
                </a:path>
              </a:pathLst>
            </a:custGeom>
            <a:solidFill>
              <a:srgbClr val="41586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30080" cy="6670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17603" y="2684550"/>
            <a:ext cx="4626576" cy="8116800"/>
          </a:xfrm>
          <a:custGeom>
            <a:avLst/>
            <a:gdLst/>
            <a:ahLst/>
            <a:cxnLst/>
            <a:rect r="r" b="b" t="t" l="l"/>
            <a:pathLst>
              <a:path h="8116800" w="4626576">
                <a:moveTo>
                  <a:pt x="0" y="0"/>
                </a:moveTo>
                <a:lnTo>
                  <a:pt x="4626576" y="0"/>
                </a:lnTo>
                <a:lnTo>
                  <a:pt x="4626576" y="8116800"/>
                </a:lnTo>
                <a:lnTo>
                  <a:pt x="0" y="8116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125460" y="941070"/>
            <a:ext cx="12037079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523434"/>
                </a:solidFill>
                <a:latin typeface="Bobby Jones"/>
                <a:ea typeface="Bobby Jones"/>
                <a:cs typeface="Bobby Jones"/>
                <a:sym typeface="Bobby Jones"/>
              </a:rPr>
              <a:t>How the Project Contributes to SDG 16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670709" y="3512042"/>
            <a:ext cx="10588591" cy="30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26412" indent="-263206" lvl="1">
              <a:lnSpc>
                <a:spcPts val="3413"/>
              </a:lnSpc>
              <a:buFont typeface="Arial"/>
              <a:buChar char="•"/>
            </a:pPr>
            <a:r>
              <a:rPr lang="en-US" sz="2438" spc="29">
                <a:solidFill>
                  <a:srgbClr val="523434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Tox</a:t>
            </a:r>
            <a:r>
              <a:rPr lang="en-US" sz="2438" spc="29">
                <a:solidFill>
                  <a:srgbClr val="523434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ic Content Detection: Identifies harmful language in real-time</a:t>
            </a:r>
          </a:p>
          <a:p>
            <a:pPr algn="just" marL="526412" indent="-263206" lvl="1">
              <a:lnSpc>
                <a:spcPts val="3413"/>
              </a:lnSpc>
              <a:buFont typeface="Arial"/>
              <a:buChar char="•"/>
            </a:pPr>
            <a:r>
              <a:rPr lang="en-US" sz="2438" spc="29">
                <a:solidFill>
                  <a:srgbClr val="523434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User Protection: Helps protect vulnerable users from online harassment</a:t>
            </a:r>
          </a:p>
          <a:p>
            <a:pPr algn="just" marL="526412" indent="-263206" lvl="1">
              <a:lnSpc>
                <a:spcPts val="3413"/>
              </a:lnSpc>
              <a:buFont typeface="Arial"/>
              <a:buChar char="•"/>
            </a:pPr>
            <a:r>
              <a:rPr lang="en-US" sz="2438" spc="29">
                <a:solidFill>
                  <a:srgbClr val="523434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Platform Moderation: Assists human moderators in content management</a:t>
            </a:r>
          </a:p>
          <a:p>
            <a:pPr algn="just" marL="526412" indent="-263206" lvl="1">
              <a:lnSpc>
                <a:spcPts val="3413"/>
              </a:lnSpc>
              <a:buFont typeface="Arial"/>
              <a:buChar char="•"/>
            </a:pPr>
            <a:r>
              <a:rPr lang="en-US" sz="2438" spc="29">
                <a:solidFill>
                  <a:srgbClr val="523434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Fairness: Reduces bias through context-aware detection</a:t>
            </a:r>
          </a:p>
          <a:p>
            <a:pPr algn="just" marL="526412" indent="-263206" lvl="1">
              <a:lnSpc>
                <a:spcPts val="3413"/>
              </a:lnSpc>
              <a:buFont typeface="Arial"/>
              <a:buChar char="•"/>
            </a:pPr>
            <a:r>
              <a:rPr lang="en-US" sz="2438" spc="29">
                <a:solidFill>
                  <a:srgbClr val="523434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Transparency: Interpretable models enable accountability</a:t>
            </a:r>
          </a:p>
          <a:p>
            <a:pPr algn="just" marL="526412" indent="-263206" lvl="1">
              <a:lnSpc>
                <a:spcPts val="3413"/>
              </a:lnSpc>
              <a:buFont typeface="Arial"/>
              <a:buChar char="•"/>
            </a:pPr>
            <a:r>
              <a:rPr lang="en-US" sz="2438" spc="29">
                <a:solidFill>
                  <a:srgbClr val="523434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Accessibility: Makes moderation technology available to smaller platforms</a:t>
            </a:r>
          </a:p>
          <a:p>
            <a:pPr algn="just" marL="526412" indent="-263206" lvl="1">
              <a:lnSpc>
                <a:spcPts val="3413"/>
              </a:lnSpc>
              <a:buFont typeface="Arial"/>
              <a:buChar char="•"/>
            </a:pPr>
            <a:r>
              <a:rPr lang="en-US" sz="2438" spc="29">
                <a:solidFill>
                  <a:srgbClr val="523434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Inclusive Design: Handles diverse communication styles and cultural variations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DA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05292" y="8413469"/>
            <a:ext cx="19098585" cy="2387881"/>
            <a:chOff x="0" y="0"/>
            <a:chExt cx="5030080" cy="62890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30080" cy="628907"/>
            </a:xfrm>
            <a:custGeom>
              <a:avLst/>
              <a:gdLst/>
              <a:ahLst/>
              <a:cxnLst/>
              <a:rect r="r" b="b" t="t" l="l"/>
              <a:pathLst>
                <a:path h="628907" w="5030080">
                  <a:moveTo>
                    <a:pt x="0" y="0"/>
                  </a:moveTo>
                  <a:lnTo>
                    <a:pt x="5030080" y="0"/>
                  </a:lnTo>
                  <a:lnTo>
                    <a:pt x="5030080" y="628907"/>
                  </a:lnTo>
                  <a:lnTo>
                    <a:pt x="0" y="628907"/>
                  </a:lnTo>
                  <a:close/>
                </a:path>
              </a:pathLst>
            </a:custGeom>
            <a:solidFill>
              <a:srgbClr val="41586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30080" cy="6670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17603" y="2684550"/>
            <a:ext cx="4626576" cy="8116800"/>
          </a:xfrm>
          <a:custGeom>
            <a:avLst/>
            <a:gdLst/>
            <a:ahLst/>
            <a:cxnLst/>
            <a:rect r="r" b="b" t="t" l="l"/>
            <a:pathLst>
              <a:path h="8116800" w="4626576">
                <a:moveTo>
                  <a:pt x="0" y="0"/>
                </a:moveTo>
                <a:lnTo>
                  <a:pt x="4626576" y="0"/>
                </a:lnTo>
                <a:lnTo>
                  <a:pt x="4626576" y="8116800"/>
                </a:lnTo>
                <a:lnTo>
                  <a:pt x="0" y="8116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125460" y="941070"/>
            <a:ext cx="12037079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523434"/>
                </a:solidFill>
                <a:latin typeface="Bobby Jones"/>
                <a:ea typeface="Bobby Jones"/>
                <a:cs typeface="Bobby Jones"/>
                <a:sym typeface="Bobby Jones"/>
              </a:rPr>
              <a:t>Impact on Online Safety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670709" y="3512042"/>
            <a:ext cx="10588591" cy="30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26412" indent="-263206" lvl="1">
              <a:lnSpc>
                <a:spcPts val="3413"/>
              </a:lnSpc>
              <a:buFont typeface="Arial"/>
              <a:buChar char="•"/>
            </a:pPr>
            <a:r>
              <a:rPr lang="en-US" sz="2438" spc="29">
                <a:solidFill>
                  <a:srgbClr val="523434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Real-time Detection: Identifies toxic content as it's posted</a:t>
            </a:r>
          </a:p>
          <a:p>
            <a:pPr algn="just" marL="526412" indent="-263206" lvl="1">
              <a:lnSpc>
                <a:spcPts val="3413"/>
              </a:lnSpc>
              <a:buFont typeface="Arial"/>
              <a:buChar char="•"/>
            </a:pPr>
            <a:r>
              <a:rPr lang="en-US" sz="2438" spc="29">
                <a:solidFill>
                  <a:srgbClr val="523434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Scalability: Can process large volumes of social media content</a:t>
            </a:r>
          </a:p>
          <a:p>
            <a:pPr algn="just" marL="526412" indent="-263206" lvl="1">
              <a:lnSpc>
                <a:spcPts val="3413"/>
              </a:lnSpc>
              <a:buFont typeface="Arial"/>
              <a:buChar char="•"/>
            </a:pPr>
            <a:r>
              <a:rPr lang="en-US" sz="2438" spc="29">
                <a:solidFill>
                  <a:srgbClr val="523434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Accuracy: 66% F1-macro with potential for improvement</a:t>
            </a:r>
          </a:p>
          <a:p>
            <a:pPr algn="just" marL="526412" indent="-263206" lvl="1">
              <a:lnSpc>
                <a:spcPts val="3413"/>
              </a:lnSpc>
              <a:buFont typeface="Arial"/>
              <a:buChar char="•"/>
            </a:pPr>
            <a:r>
              <a:rPr lang="en-US" sz="2438" spc="29">
                <a:solidFill>
                  <a:srgbClr val="523434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Context Awareness: Better handling of sarcasm and informal language</a:t>
            </a:r>
          </a:p>
          <a:p>
            <a:pPr algn="just" marL="526412" indent="-263206" lvl="1">
              <a:lnSpc>
                <a:spcPts val="3413"/>
              </a:lnSpc>
              <a:buFont typeface="Arial"/>
              <a:buChar char="•"/>
            </a:pPr>
            <a:r>
              <a:rPr lang="en-US" sz="2438" spc="29">
                <a:solidFill>
                  <a:srgbClr val="523434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Deployment Ready: API and UI enable practical application</a:t>
            </a:r>
          </a:p>
          <a:p>
            <a:pPr algn="just" marL="526412" indent="-263206" lvl="1">
              <a:lnSpc>
                <a:spcPts val="3413"/>
              </a:lnSpc>
              <a:buFont typeface="Arial"/>
              <a:buChar char="•"/>
            </a:pPr>
            <a:r>
              <a:rPr lang="en-US" sz="2438" spc="29">
                <a:solidFill>
                  <a:srgbClr val="523434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Research Contribution: Advances toxicity detection methodology</a:t>
            </a:r>
          </a:p>
          <a:p>
            <a:pPr algn="just" marL="526412" indent="-263206" lvl="1">
              <a:lnSpc>
                <a:spcPts val="3413"/>
              </a:lnSpc>
              <a:buFont typeface="Arial"/>
              <a:buChar char="•"/>
            </a:pPr>
            <a:r>
              <a:rPr lang="en-US" sz="2438" spc="29">
                <a:solidFill>
                  <a:srgbClr val="523434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Social Impact: Supports safer online communication environments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DD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35553" y="7409120"/>
            <a:ext cx="19246351" cy="3086100"/>
            <a:chOff x="0" y="0"/>
            <a:chExt cx="5068998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68998" cy="812800"/>
            </a:xfrm>
            <a:custGeom>
              <a:avLst/>
              <a:gdLst/>
              <a:ahLst/>
              <a:cxnLst/>
              <a:rect r="r" b="b" t="t" l="l"/>
              <a:pathLst>
                <a:path h="812800" w="5068998">
                  <a:moveTo>
                    <a:pt x="0" y="0"/>
                  </a:moveTo>
                  <a:lnTo>
                    <a:pt x="5068998" y="0"/>
                  </a:lnTo>
                  <a:lnTo>
                    <a:pt x="506899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8B786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68998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659201" y="1395809"/>
            <a:ext cx="14969598" cy="3091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19"/>
              </a:lnSpc>
            </a:pPr>
            <a:r>
              <a:rPr lang="en-US" sz="8799">
                <a:solidFill>
                  <a:srgbClr val="00BF63"/>
                </a:solidFill>
                <a:latin typeface="Bobby Jones"/>
                <a:ea typeface="Bobby Jones"/>
                <a:cs typeface="Bobby Jones"/>
                <a:sym typeface="Bobby Jones"/>
              </a:rPr>
              <a:t>Toxic</a:t>
            </a:r>
            <a:r>
              <a:rPr lang="en-US" sz="8799">
                <a:solidFill>
                  <a:srgbClr val="421F1F"/>
                </a:solidFill>
                <a:latin typeface="Bobby Jones"/>
                <a:ea typeface="Bobby Jones"/>
                <a:cs typeface="Bobby Jones"/>
                <a:sym typeface="Bobby Jones"/>
              </a:rPr>
              <a:t> Comment Detection on Twitter/X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555222" y="4079249"/>
            <a:ext cx="17177555" cy="6291280"/>
          </a:xfrm>
          <a:custGeom>
            <a:avLst/>
            <a:gdLst/>
            <a:ahLst/>
            <a:cxnLst/>
            <a:rect r="r" b="b" t="t" l="l"/>
            <a:pathLst>
              <a:path h="6291280" w="17177555">
                <a:moveTo>
                  <a:pt x="0" y="0"/>
                </a:moveTo>
                <a:lnTo>
                  <a:pt x="17177556" y="0"/>
                </a:lnTo>
                <a:lnTo>
                  <a:pt x="17177556" y="6291280"/>
                </a:lnTo>
                <a:lnTo>
                  <a:pt x="0" y="62912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319715" y="1088294"/>
            <a:ext cx="10454634" cy="804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73"/>
              </a:lnSpc>
            </a:pPr>
            <a:r>
              <a:rPr lang="en-US" sz="4695">
                <a:solidFill>
                  <a:srgbClr val="4F2422"/>
                </a:solidFill>
                <a:latin typeface="Bobby Jones"/>
                <a:ea typeface="Bobby Jones"/>
                <a:cs typeface="Bobby Jones"/>
                <a:sym typeface="Bobby Jones"/>
              </a:rPr>
              <a:t>code trinity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0" y="1116869"/>
            <a:ext cx="6767666" cy="522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254"/>
              </a:lnSpc>
            </a:pPr>
            <a:r>
              <a:rPr lang="en-US" sz="3039">
                <a:solidFill>
                  <a:srgbClr val="4F2422"/>
                </a:solidFill>
                <a:latin typeface="Bobby Jones"/>
                <a:ea typeface="Bobby Jones"/>
                <a:cs typeface="Bobby Jones"/>
                <a:sym typeface="Bobby Jones"/>
              </a:rPr>
              <a:t>ITC 508 - Deep Learning and NLP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19715" y="3231006"/>
            <a:ext cx="4511068" cy="1062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6"/>
              </a:lnSpc>
            </a:pPr>
            <a:r>
              <a:rPr lang="en-US" sz="2025">
                <a:solidFill>
                  <a:srgbClr val="4F2422"/>
                </a:solidFill>
                <a:latin typeface="Bobby Jones"/>
                <a:ea typeface="Bobby Jones"/>
                <a:cs typeface="Bobby Jones"/>
                <a:sym typeface="Bobby Jones"/>
              </a:rPr>
              <a:t>Fercy T. Enriquez </a:t>
            </a:r>
          </a:p>
          <a:p>
            <a:pPr algn="l">
              <a:lnSpc>
                <a:spcPts val="2836"/>
              </a:lnSpc>
            </a:pPr>
            <a:r>
              <a:rPr lang="en-US" sz="2025">
                <a:solidFill>
                  <a:srgbClr val="4F2422"/>
                </a:solidFill>
                <a:latin typeface="Bobby Jones"/>
                <a:ea typeface="Bobby Jones"/>
                <a:cs typeface="Bobby Jones"/>
                <a:sym typeface="Bobby Jones"/>
              </a:rPr>
              <a:t>Russel Troy Dulo </a:t>
            </a:r>
          </a:p>
          <a:p>
            <a:pPr algn="l">
              <a:lnSpc>
                <a:spcPts val="2836"/>
              </a:lnSpc>
            </a:pPr>
            <a:r>
              <a:rPr lang="en-US" sz="2025">
                <a:solidFill>
                  <a:srgbClr val="4F2422"/>
                </a:solidFill>
                <a:latin typeface="Bobby Jones"/>
                <a:ea typeface="Bobby Jones"/>
                <a:cs typeface="Bobby Jones"/>
                <a:sym typeface="Bobby Jones"/>
              </a:rPr>
              <a:t>Vince Gabrielle Morales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DAG5B7H_VVM</dc:identifier>
  <dcterms:modified xsi:type="dcterms:W3CDTF">2011-08-01T06:04:30Z</dcterms:modified>
  <cp:revision>1</cp:revision>
  <dc:title>Code_Trinity_Final_Project</dc:title>
</cp:coreProperties>
</file>